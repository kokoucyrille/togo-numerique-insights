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Utilisateurs d'Internet (% de la population), 2013-2024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Usage Internet (%)</c:v>
                </c:pt>
              </c:strCache>
            </c:strRef>
          </c:tx>
          <c:spPr>
            <a:ln w="38100" cap="flat">
              <a:solidFill>
                <a:srgbClr val="006A4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6A4E"/>
              </a:solidFill>
              <a:ln w="9525" cap="flat">
                <a:solidFill>
                  <a:srgbClr val="006A4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4.5</c:v>
                </c:pt>
                <c:pt idx="1">
                  <c:v>5.7</c:v>
                </c:pt>
                <c:pt idx="2">
                  <c:v>7.12</c:v>
                </c:pt>
                <c:pt idx="3">
                  <c:v>11.31</c:v>
                </c:pt>
                <c:pt idx="4">
                  <c:v>12.36</c:v>
                </c:pt>
                <c:pt idx="5">
                  <c:v>15.5</c:v>
                </c:pt>
                <c:pt idx="6">
                  <c:v>20.727</c:v>
                </c:pt>
                <c:pt idx="7">
                  <c:v>29.024000000000001</c:v>
                </c:pt>
                <c:pt idx="8">
                  <c:v>30.338000000000001</c:v>
                </c:pt>
                <c:pt idx="9">
                  <c:v>35.606999999999999</c:v>
                </c:pt>
                <c:pt idx="10">
                  <c:v>37.57</c:v>
                </c:pt>
                <c:pt idx="11">
                  <c:v>39.482999999999997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08-4078-82A5-CC1D4E5636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Gain annuel d'usage (points de pourcentage)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annuel (points)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AD-4C3B-BE52-E69B744EEBF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DAD-4C3B-BE52-E69B744EEBF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DAD-4C3B-BE52-E69B744EEBF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DAD-4C3B-BE52-E69B744EEBF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DAD-4C3B-BE52-E69B744EEBF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DAD-4C3B-BE52-E69B744EEBF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DAD-4C3B-BE52-E69B744EEBF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7DAD-4C3B-BE52-E69B744EEBF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DAD-4C3B-BE52-E69B744EEBF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7DAD-4C3B-BE52-E69B744EEBFF}"/>
              </c:ext>
            </c:extLst>
          </c:dPt>
          <c:dPt>
            <c:idx val="10"/>
            <c:invertIfNegative val="0"/>
            <c:bubble3D val="0"/>
            <c:spPr>
              <a:solidFill>
                <a:srgbClr val="D210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7DAD-4C3B-BE52-E69B744EEBFF}"/>
              </c:ext>
            </c:extLst>
          </c:dPt>
          <c:dPt>
            <c:idx val="11"/>
            <c:invertIfNegative val="0"/>
            <c:bubble3D val="0"/>
            <c:spPr>
              <a:solidFill>
                <a:srgbClr val="D210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7DAD-4C3B-BE52-E69B744EEBF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</c:v>
                </c:pt>
                <c:pt idx="1">
                  <c:v>1.2</c:v>
                </c:pt>
                <c:pt idx="2">
                  <c:v>1.42</c:v>
                </c:pt>
                <c:pt idx="3">
                  <c:v>4.1900000000000004</c:v>
                </c:pt>
                <c:pt idx="4">
                  <c:v>1.05</c:v>
                </c:pt>
                <c:pt idx="5">
                  <c:v>3.14</c:v>
                </c:pt>
                <c:pt idx="6">
                  <c:v>5.2270000000000003</c:v>
                </c:pt>
                <c:pt idx="7">
                  <c:v>8.2959999999999994</c:v>
                </c:pt>
                <c:pt idx="8">
                  <c:v>1.3149999999999999</c:v>
                </c:pt>
                <c:pt idx="9">
                  <c:v>5.2690000000000001</c:v>
                </c:pt>
                <c:pt idx="10">
                  <c:v>1.9630000000000001</c:v>
                </c:pt>
                <c:pt idx="11">
                  <c:v>1.913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DAD-4C3B-BE52-E69B744EEB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En 2019, pour 100 habitants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Pour 100 habitants (2019)</c:v>
                </c:pt>
              </c:strCache>
            </c:strRef>
          </c:tx>
          <c:spPr>
            <a:solidFill>
              <a:srgbClr val="D2103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210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8C-4BAC-B926-D5D6367A9D5B}"/>
              </c:ext>
            </c:extLst>
          </c:dPt>
          <c:dPt>
            <c:idx val="1"/>
            <c:invertIfNegative val="0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8C-4BAC-B926-D5D6367A9D5B}"/>
              </c:ext>
            </c:extLst>
          </c:dPt>
          <c:dPt>
            <c:idx val="2"/>
            <c:invertIfNegative val="0"/>
            <c:bubble3D val="0"/>
            <c:spPr>
              <a:solidFill>
                <a:srgbClr val="006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8C-4BAC-B926-D5D6367A9D5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Utilisateurs d'Internet</c:v>
                </c:pt>
                <c:pt idx="1">
                  <c:v>Abonnements Internet</c:v>
                </c:pt>
                <c:pt idx="2">
                  <c:v>Cartes SIM GSM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20.7</c:v>
                </c:pt>
                <c:pt idx="1">
                  <c:v>44.8</c:v>
                </c:pt>
                <c:pt idx="2">
                  <c:v>81.900000000000006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8C-4BAC-B926-D5D6367A9D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Part de la population et part des établissements formels, par région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 la population (%)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Grand Lomé</c:v>
                </c:pt>
                <c:pt idx="1">
                  <c:v>Maritime intérieur</c:v>
                </c:pt>
                <c:pt idx="2">
                  <c:v>Plateaux</c:v>
                </c:pt>
                <c:pt idx="3">
                  <c:v>Centrale</c:v>
                </c:pt>
                <c:pt idx="4">
                  <c:v>Kara</c:v>
                </c:pt>
                <c:pt idx="5">
                  <c:v>Savanes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27.03</c:v>
                </c:pt>
                <c:pt idx="1">
                  <c:v>16.63</c:v>
                </c:pt>
                <c:pt idx="2">
                  <c:v>20.21</c:v>
                </c:pt>
                <c:pt idx="3">
                  <c:v>9.83</c:v>
                </c:pt>
                <c:pt idx="4">
                  <c:v>12.17</c:v>
                </c:pt>
                <c:pt idx="5">
                  <c:v>14.13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B6-408C-935E-6A025DD060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 des établissements formels (%)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5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Grand Lomé</c:v>
                </c:pt>
                <c:pt idx="1">
                  <c:v>Maritime intérieur</c:v>
                </c:pt>
                <c:pt idx="2">
                  <c:v>Plateaux</c:v>
                </c:pt>
                <c:pt idx="3">
                  <c:v>Centrale</c:v>
                </c:pt>
                <c:pt idx="4">
                  <c:v>Kara</c:v>
                </c:pt>
                <c:pt idx="5">
                  <c:v>Savanes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41.3</c:v>
                </c:pt>
                <c:pt idx="1">
                  <c:v>15.33</c:v>
                </c:pt>
                <c:pt idx="2">
                  <c:v>14.78</c:v>
                </c:pt>
                <c:pt idx="3">
                  <c:v>8.56</c:v>
                </c:pt>
                <c:pt idx="4">
                  <c:v>11.6</c:v>
                </c:pt>
                <c:pt idx="5">
                  <c:v>8.43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B6-408C-935E-6A025DD060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Répartition des agents par opérateur et par région (% ; total d'agents entre parenthèses)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Moov + Togocom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Grand Lomé (6 519)</c:v>
                </c:pt>
                <c:pt idx="1">
                  <c:v>Maritime intérieur (2 467)</c:v>
                </c:pt>
                <c:pt idx="2">
                  <c:v>Plateaux (3 079)</c:v>
                </c:pt>
                <c:pt idx="3">
                  <c:v>Centrale (2 093)</c:v>
                </c:pt>
                <c:pt idx="4">
                  <c:v>Kara (2 951)</c:v>
                </c:pt>
                <c:pt idx="5">
                  <c:v>Savanes (2 679)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4642</c:v>
                </c:pt>
                <c:pt idx="1">
                  <c:v>1739</c:v>
                </c:pt>
                <c:pt idx="2">
                  <c:v>2105</c:v>
                </c:pt>
                <c:pt idx="3">
                  <c:v>1087</c:v>
                </c:pt>
                <c:pt idx="4">
                  <c:v>1487</c:v>
                </c:pt>
                <c:pt idx="5">
                  <c:v>1589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4D-44F2-9B26-7C4AAF1AD0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Togocom seul</c:v>
                </c:pt>
              </c:strCache>
            </c:strRef>
          </c:tx>
          <c:spPr>
            <a:solidFill>
              <a:srgbClr val="5FAF3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Grand Lomé (6 519)</c:v>
                </c:pt>
                <c:pt idx="1">
                  <c:v>Maritime intérieur (2 467)</c:v>
                </c:pt>
                <c:pt idx="2">
                  <c:v>Plateaux (3 079)</c:v>
                </c:pt>
                <c:pt idx="3">
                  <c:v>Centrale (2 093)</c:v>
                </c:pt>
                <c:pt idx="4">
                  <c:v>Kara (2 951)</c:v>
                </c:pt>
                <c:pt idx="5">
                  <c:v>Savanes (2 679)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1330</c:v>
                </c:pt>
                <c:pt idx="1">
                  <c:v>163</c:v>
                </c:pt>
                <c:pt idx="2">
                  <c:v>559</c:v>
                </c:pt>
                <c:pt idx="3">
                  <c:v>877</c:v>
                </c:pt>
                <c:pt idx="4">
                  <c:v>1087</c:v>
                </c:pt>
                <c:pt idx="5">
                  <c:v>757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4D-44F2-9B26-7C4AAF1AD0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Moov seul</c:v>
                </c:pt>
              </c:strCache>
            </c:strRef>
          </c:tx>
          <c:spPr>
            <a:solidFill>
              <a:srgbClr val="F2B01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Grand Lomé (6 519)</c:v>
                </c:pt>
                <c:pt idx="1">
                  <c:v>Maritime intérieur (2 467)</c:v>
                </c:pt>
                <c:pt idx="2">
                  <c:v>Plateaux (3 079)</c:v>
                </c:pt>
                <c:pt idx="3">
                  <c:v>Centrale (2 093)</c:v>
                </c:pt>
                <c:pt idx="4">
                  <c:v>Kara (2 951)</c:v>
                </c:pt>
                <c:pt idx="5">
                  <c:v>Savanes (2 679)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151</c:v>
                </c:pt>
                <c:pt idx="1">
                  <c:v>380</c:v>
                </c:pt>
                <c:pt idx="2">
                  <c:v>236</c:v>
                </c:pt>
                <c:pt idx="3">
                  <c:v>23</c:v>
                </c:pt>
                <c:pt idx="4">
                  <c:v>28</c:v>
                </c:pt>
                <c:pt idx="5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4D-44F2-9B26-7C4AAF1AD01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 spécifié</c:v>
                </c:pt>
              </c:strCache>
            </c:strRef>
          </c:tx>
          <c:spPr>
            <a:solidFill>
              <a:srgbClr val="C5CF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Grand Lomé (6 519)</c:v>
                </c:pt>
                <c:pt idx="1">
                  <c:v>Maritime intérieur (2 467)</c:v>
                </c:pt>
                <c:pt idx="2">
                  <c:v>Plateaux (3 079)</c:v>
                </c:pt>
                <c:pt idx="3">
                  <c:v>Centrale (2 093)</c:v>
                </c:pt>
                <c:pt idx="4">
                  <c:v>Kara (2 951)</c:v>
                </c:pt>
                <c:pt idx="5">
                  <c:v>Savanes (2 679)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396</c:v>
                </c:pt>
                <c:pt idx="1">
                  <c:v>185</c:v>
                </c:pt>
                <c:pt idx="2">
                  <c:v>179</c:v>
                </c:pt>
                <c:pt idx="3">
                  <c:v>106</c:v>
                </c:pt>
                <c:pt idx="4">
                  <c:v>349</c:v>
                </c:pt>
                <c:pt idx="5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44D-44F2-9B26-7C4AAF1AD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100" b="0">
                <a:solidFill>
                  <a:srgbClr val="334155"/>
                </a:solidFill>
                <a:latin typeface="Calibri"/>
              </a:rPr>
              <a:t>Habitants par établissement formel, par région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Habitants par établissement formel, par région</c:v>
                </c:pt>
              </c:strCache>
            </c:strRef>
          </c:tx>
          <c:spPr>
            <a:solidFill>
              <a:srgbClr val="006A4E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D21034"/>
              </a:solidFill>
            </c:spPr>
            <c:extLst>
              <c:ext xmlns:c16="http://schemas.microsoft.com/office/drawing/2014/chart" uri="{C3380CC4-5D6E-409C-BE32-E72D297353CC}">
                <c16:uniqueId val="{00000001-A9D1-4A42-8873-0659C17019CA}"/>
              </c:ext>
            </c:extLst>
          </c:dPt>
          <c:dPt>
            <c:idx val="1"/>
            <c:invertIfNegative val="1"/>
            <c:bubble3D val="0"/>
            <c:spPr>
              <a:solidFill>
                <a:srgbClr val="006A4E"/>
              </a:solidFill>
            </c:spPr>
            <c:extLst>
              <c:ext xmlns:c16="http://schemas.microsoft.com/office/drawing/2014/chart" uri="{C3380CC4-5D6E-409C-BE32-E72D297353CC}">
                <c16:uniqueId val="{00000003-A9D1-4A42-8873-0659C17019CA}"/>
              </c:ext>
            </c:extLst>
          </c:dPt>
          <c:dPt>
            <c:idx val="2"/>
            <c:invertIfNegative val="1"/>
            <c:bubble3D val="0"/>
            <c:spPr>
              <a:solidFill>
                <a:srgbClr val="006A4E"/>
              </a:solidFill>
            </c:spPr>
            <c:extLst>
              <c:ext xmlns:c16="http://schemas.microsoft.com/office/drawing/2014/chart" uri="{C3380CC4-5D6E-409C-BE32-E72D297353CC}">
                <c16:uniqueId val="{00000005-A9D1-4A42-8873-0659C17019CA}"/>
              </c:ext>
            </c:extLst>
          </c:dPt>
          <c:dPt>
            <c:idx val="3"/>
            <c:invertIfNegative val="1"/>
            <c:bubble3D val="0"/>
            <c:spPr>
              <a:solidFill>
                <a:srgbClr val="006A4E"/>
              </a:solidFill>
            </c:spPr>
            <c:extLst>
              <c:ext xmlns:c16="http://schemas.microsoft.com/office/drawing/2014/chart" uri="{C3380CC4-5D6E-409C-BE32-E72D297353CC}">
                <c16:uniqueId val="{00000007-A9D1-4A42-8873-0659C17019CA}"/>
              </c:ext>
            </c:extLst>
          </c:dPt>
          <c:dPt>
            <c:idx val="4"/>
            <c:invertIfNegative val="1"/>
            <c:bubble3D val="0"/>
            <c:spPr>
              <a:solidFill>
                <a:srgbClr val="006A4E"/>
              </a:solidFill>
            </c:spPr>
            <c:extLst>
              <c:ext xmlns:c16="http://schemas.microsoft.com/office/drawing/2014/chart" uri="{C3380CC4-5D6E-409C-BE32-E72D297353CC}">
                <c16:uniqueId val="{00000009-A9D1-4A42-8873-0659C17019CA}"/>
              </c:ext>
            </c:extLst>
          </c:dPt>
          <c:dPt>
            <c:idx val="5"/>
            <c:invertIfNegative val="1"/>
            <c:bubble3D val="0"/>
            <c:spPr>
              <a:solidFill>
                <a:srgbClr val="006A4E"/>
              </a:solidFill>
            </c:spPr>
            <c:extLst>
              <c:ext xmlns:c16="http://schemas.microsoft.com/office/drawing/2014/chart" uri="{C3380CC4-5D6E-409C-BE32-E72D297353CC}">
                <c16:uniqueId val="{0000000B-A9D1-4A42-8873-0659C17019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1">
                    <a:solidFill>
                      <a:srgbClr val="0B1F33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Savanes</c:v>
                </c:pt>
                <c:pt idx="1">
                  <c:v>Plateaux</c:v>
                </c:pt>
                <c:pt idx="2">
                  <c:v>Centrale</c:v>
                </c:pt>
                <c:pt idx="3">
                  <c:v>Maritime intérieur</c:v>
                </c:pt>
                <c:pt idx="4">
                  <c:v>Kara</c:v>
                </c:pt>
                <c:pt idx="5">
                  <c:v>Grand Lomé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18746</c:v>
                </c:pt>
                <c:pt idx="1">
                  <c:v>15289</c:v>
                </c:pt>
                <c:pt idx="2">
                  <c:v>12831</c:v>
                </c:pt>
                <c:pt idx="3">
                  <c:v>12132</c:v>
                </c:pt>
                <c:pt idx="4">
                  <c:v>11732</c:v>
                </c:pt>
                <c:pt idx="5">
                  <c:v>7319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9D1-4A42-8873-0659C17019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334155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35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solidFill>
            <a:srgbClr val="3341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r>
              <a:rPr lang="fr-FR" sz="1100" b="0">
                <a:solidFill>
                  <a:srgbClr val="334155"/>
                </a:solidFill>
                <a:latin typeface="Calibri"/>
              </a:rPr>
              <a:t>Communes sans établissement formel, par région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Communes sans établissement formel, par région (%)</c:v>
                </c:pt>
              </c:strCache>
            </c:strRef>
          </c:tx>
          <c:spPr>
            <a:solidFill>
              <a:srgbClr val="006A4E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D21034"/>
              </a:solidFill>
            </c:spPr>
            <c:extLst>
              <c:ext xmlns:c16="http://schemas.microsoft.com/office/drawing/2014/chart" uri="{C3380CC4-5D6E-409C-BE32-E72D297353CC}">
                <c16:uniqueId val="{00000001-3DCF-42D4-A9EF-8A5B6C86104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3DCF-42D4-A9EF-8A5B6C86104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3DCF-42D4-A9EF-8A5B6C86104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3DCF-42D4-A9EF-8A5B6C861048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3DCF-42D4-A9EF-8A5B6C861048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3DCF-42D4-A9EF-8A5B6C86104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40,9 %  (9/22)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DCF-42D4-A9EF-8A5B6C8610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26,7 %  (4/15)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DCF-42D4-A9EF-8A5B6C8610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25,0 %  (4/16)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DCF-42D4-A9EF-8A5B6C8610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16,1 %  (5/31)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DCF-42D4-A9EF-8A5B6C8610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0,0 %  (0/19)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DCF-42D4-A9EF-8A5B6C8610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50" b="1">
                        <a:solidFill>
                          <a:srgbClr val="0B1F33"/>
                        </a:solidFill>
                        <a:latin typeface="Calibri"/>
                      </a:rPr>
                      <a:t>0,0 %  (0/13)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DCF-42D4-A9EF-8A5B6C8610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Kara</c:v>
                </c:pt>
                <c:pt idx="1">
                  <c:v>Centrale</c:v>
                </c:pt>
                <c:pt idx="2">
                  <c:v>Savanes</c:v>
                </c:pt>
                <c:pt idx="3">
                  <c:v>Plateaux</c:v>
                </c:pt>
                <c:pt idx="4">
                  <c:v>Maritime intérieur</c:v>
                </c:pt>
                <c:pt idx="5">
                  <c:v>Grand Lomé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40.9</c:v>
                </c:pt>
                <c:pt idx="1">
                  <c:v>26.7</c:v>
                </c:pt>
                <c:pt idx="2">
                  <c:v>25</c:v>
                </c:pt>
                <c:pt idx="3">
                  <c:v>16.100000000000001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DCF-42D4-A9EF-8A5B6C8610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334155"/>
                </a:solidFill>
              </a:defRPr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50">
          <a:solidFill>
            <a:srgbClr val="334155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334155"/>
                </a:solidFill>
                <a:latin typeface="Calibri"/>
              </a:defRPr>
            </a:pPr>
            <a:r>
              <a:rPr lang="fr-FR" sz="1150" b="0" i="0" u="none" strike="noStrike">
                <a:solidFill>
                  <a:srgbClr val="334155"/>
                </a:solidFill>
                <a:latin typeface="Calibri"/>
              </a:rPr>
              <a:t>Préfectures les plus concernées : part de la population vivant en communes P1/P2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 la population de la préfecture en communes P1/P2 (%)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1-46E1-4786-ABCC-B411ECA3BEE2}"/>
              </c:ext>
            </c:extLst>
          </c:dPt>
          <c:dPt>
            <c:idx val="1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3-46E1-4786-ABCC-B411ECA3BEE2}"/>
              </c:ext>
            </c:extLst>
          </c:dPt>
          <c:dPt>
            <c:idx val="2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5-46E1-4786-ABCC-B411ECA3BEE2}"/>
              </c:ext>
            </c:extLst>
          </c:dPt>
          <c:dPt>
            <c:idx val="3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7-46E1-4786-ABCC-B411ECA3BEE2}"/>
              </c:ext>
            </c:extLst>
          </c:dPt>
          <c:dPt>
            <c:idx val="4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9-46E1-4786-ABCC-B411ECA3BEE2}"/>
              </c:ext>
            </c:extLst>
          </c:dPt>
          <c:dPt>
            <c:idx val="5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B-46E1-4786-ABCC-B411ECA3BEE2}"/>
              </c:ext>
            </c:extLst>
          </c:dPt>
          <c:dPt>
            <c:idx val="6"/>
            <c:invertIfNegative val="0"/>
            <c:bubble3D val="0"/>
            <c:spPr>
              <a:solidFill>
                <a:srgbClr val="0E9F6E"/>
              </a:solidFill>
            </c:spPr>
            <c:extLst>
              <c:ext xmlns:c16="http://schemas.microsoft.com/office/drawing/2014/chart" uri="{C3380CC4-5D6E-409C-BE32-E72D297353CC}">
                <c16:uniqueId val="{0000000D-46E1-4786-ABCC-B411ECA3BEE2}"/>
              </c:ext>
            </c:extLst>
          </c:dPt>
          <c:dPt>
            <c:idx val="7"/>
            <c:invertIfNegative val="0"/>
            <c:bubble3D val="0"/>
            <c:spPr>
              <a:solidFill>
                <a:srgbClr val="D21034"/>
              </a:solidFill>
            </c:spPr>
            <c:extLst>
              <c:ext xmlns:c16="http://schemas.microsoft.com/office/drawing/2014/chart" uri="{C3380CC4-5D6E-409C-BE32-E72D297353CC}">
                <c16:uniqueId val="{0000000F-46E1-4786-ABCC-B411ECA3BEE2}"/>
              </c:ext>
            </c:extLst>
          </c:dPt>
          <c:dLbls>
            <c:numFmt formatCode="General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Tone · 3 communes</c:v>
                </c:pt>
                <c:pt idx="1">
                  <c:v>Haho · 2 communes</c:v>
                </c:pt>
                <c:pt idx="2">
                  <c:v>Wawa · 2 communes</c:v>
                </c:pt>
                <c:pt idx="3">
                  <c:v>Kpendjal-Ouest · 1 commune</c:v>
                </c:pt>
                <c:pt idx="4">
                  <c:v>Dankpen · 2 communes</c:v>
                </c:pt>
                <c:pt idx="5">
                  <c:v>Est-Mono · 1 commune</c:v>
                </c:pt>
                <c:pt idx="6">
                  <c:v>Keran · 2 communes</c:v>
                </c:pt>
                <c:pt idx="7">
                  <c:v>Kpendjal · 2 communes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45.5</c:v>
                </c:pt>
                <c:pt idx="1">
                  <c:v>46.3</c:v>
                </c:pt>
                <c:pt idx="2">
                  <c:v>49.5</c:v>
                </c:pt>
                <c:pt idx="3">
                  <c:v>54.2</c:v>
                </c:pt>
                <c:pt idx="4">
                  <c:v>58.9</c:v>
                </c:pt>
                <c:pt idx="5">
                  <c:v>61.9</c:v>
                </c:pt>
                <c:pt idx="6">
                  <c:v>65.5</c:v>
                </c:pt>
                <c:pt idx="7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6E1-4786-ABCC-B411ECA3BEE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37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rapport du Data Challenge Économie Numérique, Défi 2, sur le Mobile Money et l'inclusion financière au Togo.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Togo compte 724 établissements formels et 19 788 agents Mobile Money. 22 communes, soit 759 599 habitants, n'ont aucun établissement formel : le Mobile Money y est le seul accès de proximité. D'où la question centrale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sources, neuf étapes, quatre échelles territoriales. Les limites sont assumées : décalage entre population 2022 et collecte 2024-2025, distances à vol d'oiseau, pas de limites administratives fiables sous la région.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taux d'usage d'Internet atteint 39,5 % en 2024. Les gains annuels de 2023 et 2024 sont inférieurs à ceux de 2019, 2020 et 2022, mais la série est irrégulière. En 2019, 82 cartes SIM pour 100 habitants mais 21 % d'utilisateurs : l'équipement n'explique pas l'usage.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Grand Lomé concentre 41,3 % des établissements pour 27 % de la population. Les Savanes n'en ont que 8,4 % pour 14,1 % de la population : 18 746 habitants par établissement, contre 7 319 à Grand Lomé.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Mobile Money offre 27 fois plus de points que le réseau formel : 409 habitants par agent contre 11 182 par établissement. 64 % des agents proposent les deux opérateurs. Mais 22 communes ne dépendent que de lui, dont 9 avec un maillage lui-même faible.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43 communes, soit 26,3 % de la population, ont un accès formel nul ou très faible. Deux lectures régionales le confirment : les Savanes comptent 18 746 habitants par établissement formel contre 7 319 à Grand Lomé, et Kara concentre 9 des 22 communes sans aucun établissement formel (41 % de ses 22 communes). À l'inverse, les 6 communes au niveau élevé regroupent 6,9 % de la population mais 22,9 % des établissements.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L'indice de besoin pondère quatre dimensions : 35 % déficit d'accès formel, 25 % population, 20 % absence de Mobile Money, 20 % isolement. 29 communes ressortent en P1 et P2, soit 16,9 % de la population. 10 communes forment un noyau stable sur 2 000 tirages de pondérations. Le graphique montre, pour les huit préfectures les plus concernées, la part de la population vivant dans une commune P1 ou P2 : Kpendjal est la seule préfecture entièrement prioritaire (100 %).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recommandations, chacune rattachée à des localités précises et à des indicateurs de suivi (catalogue de KPI). R-F1, R-F3 et R-F6 créent ou renforcent des points formels dans les communes citées ; R-F2 reste conditionnelle à une étude de viabilité ; R-F4/R-F5 suivent le ratio habitants par établissement dans les régions en retard. Pour Internet, aucune cible territoriale n'est fixée avant une enquête ménages. Jalons : bilan à 12 mois et à 24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: Mobile Money dense mais 22 communes qui en dépendent seules ; 29 communes prioritaires robustes ; six actions ciblées et suivies par des indicateurs ; l'usage d'Internet est à mesurer avant de cibler. Perspectives : court terme (vérifications et pilote R-F1), moyen terme (extension), suivi annuel des KPI. Ouverture : Mobile Money comme passerelle vers le formel ; lecture à l'échelle des cantons (244 des 373 cantons sans établissement formel recensé) ; enquête ménages TIC coordonnée avec le Togo Digital Acceleration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work/build/assets/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56032"/>
            <a:ext cx="1920240" cy="1925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310128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TOGO NUMERIQUE INSIGHTS</a:t>
            </a:r>
          </a:p>
        </p:txBody>
      </p:sp>
      <p:sp>
        <p:nvSpPr>
          <p:cNvPr id="5" name="Shape 2"/>
          <p:cNvSpPr/>
          <p:nvPr/>
        </p:nvSpPr>
        <p:spPr>
          <a:xfrm>
            <a:off x="5455768" y="4370832"/>
            <a:ext cx="1280160" cy="0"/>
          </a:xfrm>
          <a:prstGeom prst="line">
            <a:avLst/>
          </a:prstGeom>
          <a:noFill/>
          <a:ln w="25400">
            <a:solidFill>
              <a:srgbClr val="FFCE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9884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kern="0" spc="1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 ·  ÉCONOMIE NUMÉRIQUE  ·  DÉFI 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50749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41324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</a:t>
            </a:r>
            <a:r>
              <a:rPr lang="en-US" sz="1300" dirty="0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Travaux </a:t>
            </a:r>
            <a:r>
              <a:rPr lang="en-US" sz="1300" dirty="0" err="1">
                <a:solidFill>
                  <a:srgbClr val="C7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0140" y="2302382"/>
            <a:ext cx="10728655" cy="618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TOGOLAISE</a:t>
            </a:r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l'Efficacité du Service Public et de la Transformation Numérique</a:t>
            </a:r>
          </a:p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</a:t>
            </a:r>
            <a:endParaRPr lang="en-US" sz="12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277E9E7-948F-24F1-5854-9E37786C4958}"/>
              </a:ext>
            </a:extLst>
          </p:cNvPr>
          <p:cNvSpPr/>
          <p:nvPr/>
        </p:nvSpPr>
        <p:spPr>
          <a:xfrm>
            <a:off x="731520" y="5779839"/>
            <a:ext cx="10728655" cy="618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</a:t>
            </a:r>
            <a:r>
              <a:rPr lang="en-US" sz="12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PROBLÉMATIQUE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accès financier encore inégal, à l'heure de l'accélération numérique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4348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116 communes du Togo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7180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794760" y="18105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588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7452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4884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2316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5" name="Shape 23"/>
          <p:cNvSpPr/>
          <p:nvPr/>
        </p:nvSpPr>
        <p:spPr>
          <a:xfrm>
            <a:off x="269748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612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044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9" name="Shape 27"/>
          <p:cNvSpPr/>
          <p:nvPr/>
        </p:nvSpPr>
        <p:spPr>
          <a:xfrm>
            <a:off x="3794760" y="20848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588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60020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7452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5" name="Shape 33"/>
          <p:cNvSpPr/>
          <p:nvPr/>
        </p:nvSpPr>
        <p:spPr>
          <a:xfrm>
            <a:off x="214884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6" name="Shape 34"/>
          <p:cNvSpPr/>
          <p:nvPr/>
        </p:nvSpPr>
        <p:spPr>
          <a:xfrm>
            <a:off x="242316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7" name="Shape 35"/>
          <p:cNvSpPr/>
          <p:nvPr/>
        </p:nvSpPr>
        <p:spPr>
          <a:xfrm>
            <a:off x="269748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8" name="Shape 36"/>
          <p:cNvSpPr/>
          <p:nvPr/>
        </p:nvSpPr>
        <p:spPr>
          <a:xfrm>
            <a:off x="297180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39" name="Shape 37"/>
          <p:cNvSpPr/>
          <p:nvPr/>
        </p:nvSpPr>
        <p:spPr>
          <a:xfrm>
            <a:off x="324612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0" name="Shape 38"/>
          <p:cNvSpPr/>
          <p:nvPr/>
        </p:nvSpPr>
        <p:spPr>
          <a:xfrm>
            <a:off x="352044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1" name="Shape 39"/>
          <p:cNvSpPr/>
          <p:nvPr/>
        </p:nvSpPr>
        <p:spPr>
          <a:xfrm>
            <a:off x="3794760" y="23591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156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588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5" name="Shape 43"/>
          <p:cNvSpPr/>
          <p:nvPr/>
        </p:nvSpPr>
        <p:spPr>
          <a:xfrm>
            <a:off x="160020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6" name="Shape 44"/>
          <p:cNvSpPr/>
          <p:nvPr/>
        </p:nvSpPr>
        <p:spPr>
          <a:xfrm>
            <a:off x="187452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7" name="Shape 45"/>
          <p:cNvSpPr/>
          <p:nvPr/>
        </p:nvSpPr>
        <p:spPr>
          <a:xfrm>
            <a:off x="214884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8" name="Shape 46"/>
          <p:cNvSpPr/>
          <p:nvPr/>
        </p:nvSpPr>
        <p:spPr>
          <a:xfrm>
            <a:off x="242316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49" name="Shape 47"/>
          <p:cNvSpPr/>
          <p:nvPr/>
        </p:nvSpPr>
        <p:spPr>
          <a:xfrm>
            <a:off x="269748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0" name="Shape 48"/>
          <p:cNvSpPr/>
          <p:nvPr/>
        </p:nvSpPr>
        <p:spPr>
          <a:xfrm>
            <a:off x="297180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1" name="Shape 49"/>
          <p:cNvSpPr/>
          <p:nvPr/>
        </p:nvSpPr>
        <p:spPr>
          <a:xfrm>
            <a:off x="324612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2" name="Shape 50"/>
          <p:cNvSpPr/>
          <p:nvPr/>
        </p:nvSpPr>
        <p:spPr>
          <a:xfrm>
            <a:off x="352044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3" name="Shape 51"/>
          <p:cNvSpPr/>
          <p:nvPr/>
        </p:nvSpPr>
        <p:spPr>
          <a:xfrm>
            <a:off x="3794760" y="26334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4" name="Shape 52"/>
          <p:cNvSpPr/>
          <p:nvPr/>
        </p:nvSpPr>
        <p:spPr>
          <a:xfrm>
            <a:off x="77724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156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6" name="Shape 54"/>
          <p:cNvSpPr/>
          <p:nvPr/>
        </p:nvSpPr>
        <p:spPr>
          <a:xfrm>
            <a:off x="132588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7" name="Shape 55"/>
          <p:cNvSpPr/>
          <p:nvPr/>
        </p:nvSpPr>
        <p:spPr>
          <a:xfrm>
            <a:off x="160020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8" name="Shape 56"/>
          <p:cNvSpPr/>
          <p:nvPr/>
        </p:nvSpPr>
        <p:spPr>
          <a:xfrm>
            <a:off x="187452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59" name="Shape 57"/>
          <p:cNvSpPr/>
          <p:nvPr/>
        </p:nvSpPr>
        <p:spPr>
          <a:xfrm>
            <a:off x="214884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0" name="Shape 58"/>
          <p:cNvSpPr/>
          <p:nvPr/>
        </p:nvSpPr>
        <p:spPr>
          <a:xfrm>
            <a:off x="242316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1" name="Shape 59"/>
          <p:cNvSpPr/>
          <p:nvPr/>
        </p:nvSpPr>
        <p:spPr>
          <a:xfrm>
            <a:off x="269748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2" name="Shape 60"/>
          <p:cNvSpPr/>
          <p:nvPr/>
        </p:nvSpPr>
        <p:spPr>
          <a:xfrm>
            <a:off x="297180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3" name="Shape 61"/>
          <p:cNvSpPr/>
          <p:nvPr/>
        </p:nvSpPr>
        <p:spPr>
          <a:xfrm>
            <a:off x="324612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4" name="Shape 62"/>
          <p:cNvSpPr/>
          <p:nvPr/>
        </p:nvSpPr>
        <p:spPr>
          <a:xfrm>
            <a:off x="352044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5" name="Shape 63"/>
          <p:cNvSpPr/>
          <p:nvPr/>
        </p:nvSpPr>
        <p:spPr>
          <a:xfrm>
            <a:off x="3794760" y="29077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6" name="Shape 64"/>
          <p:cNvSpPr/>
          <p:nvPr/>
        </p:nvSpPr>
        <p:spPr>
          <a:xfrm>
            <a:off x="77724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7" name="Shape 65"/>
          <p:cNvSpPr/>
          <p:nvPr/>
        </p:nvSpPr>
        <p:spPr>
          <a:xfrm>
            <a:off x="105156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8" name="Shape 66"/>
          <p:cNvSpPr/>
          <p:nvPr/>
        </p:nvSpPr>
        <p:spPr>
          <a:xfrm>
            <a:off x="132588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69" name="Shape 67"/>
          <p:cNvSpPr/>
          <p:nvPr/>
        </p:nvSpPr>
        <p:spPr>
          <a:xfrm>
            <a:off x="160020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0" name="Shape 68"/>
          <p:cNvSpPr/>
          <p:nvPr/>
        </p:nvSpPr>
        <p:spPr>
          <a:xfrm>
            <a:off x="187452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1" name="Shape 69"/>
          <p:cNvSpPr/>
          <p:nvPr/>
        </p:nvSpPr>
        <p:spPr>
          <a:xfrm>
            <a:off x="214884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2" name="Shape 70"/>
          <p:cNvSpPr/>
          <p:nvPr/>
        </p:nvSpPr>
        <p:spPr>
          <a:xfrm>
            <a:off x="242316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3" name="Shape 71"/>
          <p:cNvSpPr/>
          <p:nvPr/>
        </p:nvSpPr>
        <p:spPr>
          <a:xfrm>
            <a:off x="269748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4" name="Shape 72"/>
          <p:cNvSpPr/>
          <p:nvPr/>
        </p:nvSpPr>
        <p:spPr>
          <a:xfrm>
            <a:off x="297180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5" name="Shape 73"/>
          <p:cNvSpPr/>
          <p:nvPr/>
        </p:nvSpPr>
        <p:spPr>
          <a:xfrm>
            <a:off x="324612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6" name="Shape 74"/>
          <p:cNvSpPr/>
          <p:nvPr/>
        </p:nvSpPr>
        <p:spPr>
          <a:xfrm>
            <a:off x="352044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7" name="Shape 75"/>
          <p:cNvSpPr/>
          <p:nvPr/>
        </p:nvSpPr>
        <p:spPr>
          <a:xfrm>
            <a:off x="3794760" y="318211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79" name="Shape 77"/>
          <p:cNvSpPr/>
          <p:nvPr/>
        </p:nvSpPr>
        <p:spPr>
          <a:xfrm>
            <a:off x="105156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0" name="Shape 78"/>
          <p:cNvSpPr/>
          <p:nvPr/>
        </p:nvSpPr>
        <p:spPr>
          <a:xfrm>
            <a:off x="132588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1" name="Shape 79"/>
          <p:cNvSpPr/>
          <p:nvPr/>
        </p:nvSpPr>
        <p:spPr>
          <a:xfrm>
            <a:off x="160020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2" name="Shape 80"/>
          <p:cNvSpPr/>
          <p:nvPr/>
        </p:nvSpPr>
        <p:spPr>
          <a:xfrm>
            <a:off x="187452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3" name="Shape 81"/>
          <p:cNvSpPr/>
          <p:nvPr/>
        </p:nvSpPr>
        <p:spPr>
          <a:xfrm>
            <a:off x="214884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4" name="Shape 82"/>
          <p:cNvSpPr/>
          <p:nvPr/>
        </p:nvSpPr>
        <p:spPr>
          <a:xfrm>
            <a:off x="242316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5" name="Shape 83"/>
          <p:cNvSpPr/>
          <p:nvPr/>
        </p:nvSpPr>
        <p:spPr>
          <a:xfrm>
            <a:off x="269748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6" name="Shape 84"/>
          <p:cNvSpPr/>
          <p:nvPr/>
        </p:nvSpPr>
        <p:spPr>
          <a:xfrm>
            <a:off x="297180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7" name="Shape 85"/>
          <p:cNvSpPr/>
          <p:nvPr/>
        </p:nvSpPr>
        <p:spPr>
          <a:xfrm>
            <a:off x="324612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8" name="Shape 86"/>
          <p:cNvSpPr/>
          <p:nvPr/>
        </p:nvSpPr>
        <p:spPr>
          <a:xfrm>
            <a:off x="352044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89" name="Shape 87"/>
          <p:cNvSpPr/>
          <p:nvPr/>
        </p:nvSpPr>
        <p:spPr>
          <a:xfrm>
            <a:off x="3794760" y="345643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0" name="Shape 88"/>
          <p:cNvSpPr/>
          <p:nvPr/>
        </p:nvSpPr>
        <p:spPr>
          <a:xfrm>
            <a:off x="77724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1" name="Shape 89"/>
          <p:cNvSpPr/>
          <p:nvPr/>
        </p:nvSpPr>
        <p:spPr>
          <a:xfrm>
            <a:off x="105156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2" name="Shape 90"/>
          <p:cNvSpPr/>
          <p:nvPr/>
        </p:nvSpPr>
        <p:spPr>
          <a:xfrm>
            <a:off x="132588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3" name="Shape 91"/>
          <p:cNvSpPr/>
          <p:nvPr/>
        </p:nvSpPr>
        <p:spPr>
          <a:xfrm>
            <a:off x="160020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4" name="Shape 92"/>
          <p:cNvSpPr/>
          <p:nvPr/>
        </p:nvSpPr>
        <p:spPr>
          <a:xfrm>
            <a:off x="187452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5" name="Shape 93"/>
          <p:cNvSpPr/>
          <p:nvPr/>
        </p:nvSpPr>
        <p:spPr>
          <a:xfrm>
            <a:off x="214884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6" name="Shape 94"/>
          <p:cNvSpPr/>
          <p:nvPr/>
        </p:nvSpPr>
        <p:spPr>
          <a:xfrm>
            <a:off x="242316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7" name="Shape 95"/>
          <p:cNvSpPr/>
          <p:nvPr/>
        </p:nvSpPr>
        <p:spPr>
          <a:xfrm>
            <a:off x="269748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8" name="Shape 96"/>
          <p:cNvSpPr/>
          <p:nvPr/>
        </p:nvSpPr>
        <p:spPr>
          <a:xfrm>
            <a:off x="297180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99" name="Shape 97"/>
          <p:cNvSpPr/>
          <p:nvPr/>
        </p:nvSpPr>
        <p:spPr>
          <a:xfrm>
            <a:off x="324612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00" name="Shape 98"/>
          <p:cNvSpPr/>
          <p:nvPr/>
        </p:nvSpPr>
        <p:spPr>
          <a:xfrm>
            <a:off x="352044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1" name="Shape 99"/>
          <p:cNvSpPr/>
          <p:nvPr/>
        </p:nvSpPr>
        <p:spPr>
          <a:xfrm>
            <a:off x="3794760" y="373075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7724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5156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32588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60020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87452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14884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42316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69748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97180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324612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352044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3794760" y="400507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7724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5156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32588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60020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87452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14884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42316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697480" y="4279392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D21034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77240" y="4599432"/>
            <a:ext cx="155448" cy="155448"/>
          </a:xfrm>
          <a:prstGeom prst="ellipse">
            <a:avLst/>
          </a:prstGeom>
          <a:solidFill>
            <a:srgbClr val="0E9F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05840" y="4553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communes avec au moins un établissement formel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77240" y="4846320"/>
            <a:ext cx="155448" cy="155448"/>
          </a:xfrm>
          <a:prstGeom prst="ellipse">
            <a:avLst/>
          </a:prstGeom>
          <a:solidFill>
            <a:srgbClr val="D210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05840" y="4800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communes sans aucun établissement formel (« MM-only »)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512064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5303520" y="1645920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194" y="1777594"/>
            <a:ext cx="285293" cy="285293"/>
          </a:xfrm>
          <a:prstGeom prst="rect">
            <a:avLst/>
          </a:prstGeom>
        </p:spPr>
      </p:pic>
      <p:sp>
        <p:nvSpPr>
          <p:cNvPr id="129" name="Text 126"/>
          <p:cNvSpPr/>
          <p:nvPr/>
        </p:nvSpPr>
        <p:spPr>
          <a:xfrm>
            <a:off x="6016752" y="1417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724</a:t>
            </a:r>
            <a:endParaRPr lang="en-US" sz="2400" dirty="0"/>
          </a:p>
        </p:txBody>
      </p:sp>
      <p:sp>
        <p:nvSpPr>
          <p:cNvPr id="130" name="Text 127"/>
          <p:cNvSpPr/>
          <p:nvPr/>
        </p:nvSpPr>
        <p:spPr>
          <a:xfrm>
            <a:off x="6016752" y="1991563"/>
            <a:ext cx="21945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financiers formels (banques, IMF, assurances, mutuelles)</a:t>
            </a:r>
            <a:endParaRPr lang="en-US" sz="980" dirty="0"/>
          </a:p>
        </p:txBody>
      </p:sp>
      <p:sp>
        <p:nvSpPr>
          <p:cNvPr id="131" name="Shape 128"/>
          <p:cNvSpPr/>
          <p:nvPr/>
        </p:nvSpPr>
        <p:spPr>
          <a:xfrm>
            <a:off x="8458200" y="132588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32" name="Shape 129"/>
          <p:cNvSpPr/>
          <p:nvPr/>
        </p:nvSpPr>
        <p:spPr>
          <a:xfrm>
            <a:off x="8641080" y="164592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754" y="1777594"/>
            <a:ext cx="285293" cy="285293"/>
          </a:xfrm>
          <a:prstGeom prst="rect">
            <a:avLst/>
          </a:prstGeom>
        </p:spPr>
      </p:pic>
      <p:sp>
        <p:nvSpPr>
          <p:cNvPr id="134" name="Text 130"/>
          <p:cNvSpPr/>
          <p:nvPr/>
        </p:nvSpPr>
        <p:spPr>
          <a:xfrm>
            <a:off x="9354312" y="1417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19 788</a:t>
            </a:r>
            <a:endParaRPr lang="en-US" sz="2400" dirty="0"/>
          </a:p>
        </p:txBody>
      </p:sp>
      <p:sp>
        <p:nvSpPr>
          <p:cNvPr id="135" name="Text 131"/>
          <p:cNvSpPr/>
          <p:nvPr/>
        </p:nvSpPr>
        <p:spPr>
          <a:xfrm>
            <a:off x="9354312" y="1991563"/>
            <a:ext cx="21945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Mobile Money — le « près de 20 000 » du cahier des charges est vérifié</a:t>
            </a:r>
            <a:endParaRPr lang="en-US" sz="980" dirty="0"/>
          </a:p>
        </p:txBody>
      </p:sp>
      <p:sp>
        <p:nvSpPr>
          <p:cNvPr id="136" name="Shape 132"/>
          <p:cNvSpPr/>
          <p:nvPr/>
        </p:nvSpPr>
        <p:spPr>
          <a:xfrm>
            <a:off x="5120640" y="26517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37" name="Shape 133"/>
          <p:cNvSpPr/>
          <p:nvPr/>
        </p:nvSpPr>
        <p:spPr>
          <a:xfrm>
            <a:off x="5303520" y="2971800"/>
            <a:ext cx="548640" cy="548640"/>
          </a:xfrm>
          <a:prstGeom prst="ellipse">
            <a:avLst/>
          </a:prstGeom>
          <a:solidFill>
            <a:srgbClr val="0B1F33"/>
          </a:solidFill>
          <a:ln/>
        </p:spPr>
      </p:sp>
      <p:pic>
        <p:nvPicPr>
          <p:cNvPr id="1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194" y="3103474"/>
            <a:ext cx="285293" cy="285293"/>
          </a:xfrm>
          <a:prstGeom prst="rect">
            <a:avLst/>
          </a:prstGeom>
        </p:spPr>
      </p:pic>
      <p:sp>
        <p:nvSpPr>
          <p:cNvPr id="139" name="Text 134"/>
          <p:cNvSpPr/>
          <p:nvPr/>
        </p:nvSpPr>
        <p:spPr>
          <a:xfrm>
            <a:off x="6016752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759 599</a:t>
            </a:r>
            <a:endParaRPr lang="en-US" sz="2400" dirty="0"/>
          </a:p>
        </p:txBody>
      </p:sp>
      <p:sp>
        <p:nvSpPr>
          <p:cNvPr id="140" name="Text 135"/>
          <p:cNvSpPr/>
          <p:nvPr/>
        </p:nvSpPr>
        <p:spPr>
          <a:xfrm>
            <a:off x="6016752" y="3317443"/>
            <a:ext cx="21945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(9,4 %) dans les 22 communes sans établissement formel</a:t>
            </a:r>
            <a:endParaRPr lang="en-US" sz="980" dirty="0"/>
          </a:p>
        </p:txBody>
      </p:sp>
      <p:sp>
        <p:nvSpPr>
          <p:cNvPr id="141" name="Shape 136"/>
          <p:cNvSpPr/>
          <p:nvPr/>
        </p:nvSpPr>
        <p:spPr>
          <a:xfrm>
            <a:off x="8458200" y="26517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42" name="Shape 137"/>
          <p:cNvSpPr/>
          <p:nvPr/>
        </p:nvSpPr>
        <p:spPr>
          <a:xfrm>
            <a:off x="8641080" y="2971800"/>
            <a:ext cx="548640" cy="548640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1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754" y="3103474"/>
            <a:ext cx="285293" cy="285293"/>
          </a:xfrm>
          <a:prstGeom prst="rect">
            <a:avLst/>
          </a:prstGeom>
        </p:spPr>
      </p:pic>
      <p:sp>
        <p:nvSpPr>
          <p:cNvPr id="144" name="Text 138"/>
          <p:cNvSpPr/>
          <p:nvPr/>
        </p:nvSpPr>
        <p:spPr>
          <a:xfrm>
            <a:off x="9354312" y="2743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25,3</a:t>
            </a:r>
            <a:endParaRPr lang="en-US" sz="2400" dirty="0"/>
          </a:p>
        </p:txBody>
      </p:sp>
      <p:sp>
        <p:nvSpPr>
          <p:cNvPr id="145" name="Text 139"/>
          <p:cNvSpPr/>
          <p:nvPr/>
        </p:nvSpPr>
        <p:spPr>
          <a:xfrm>
            <a:off x="9354312" y="3317443"/>
            <a:ext cx="21945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d'accès (établissements + agents) pour 10 000 habitants</a:t>
            </a:r>
            <a:endParaRPr lang="en-US" sz="980" dirty="0"/>
          </a:p>
        </p:txBody>
      </p:sp>
      <p:sp>
        <p:nvSpPr>
          <p:cNvPr id="146" name="Shape 140"/>
          <p:cNvSpPr/>
          <p:nvPr/>
        </p:nvSpPr>
        <p:spPr>
          <a:xfrm>
            <a:off x="5120640" y="3977640"/>
            <a:ext cx="6537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47" name="Shape 141"/>
          <p:cNvSpPr/>
          <p:nvPr/>
        </p:nvSpPr>
        <p:spPr>
          <a:xfrm>
            <a:off x="5303520" y="425196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9583" y="4388023"/>
            <a:ext cx="294803" cy="294803"/>
          </a:xfrm>
          <a:prstGeom prst="rect">
            <a:avLst/>
          </a:prstGeom>
        </p:spPr>
      </p:pic>
      <p:sp>
        <p:nvSpPr>
          <p:cNvPr id="149" name="Text 142"/>
          <p:cNvSpPr/>
          <p:nvPr/>
        </p:nvSpPr>
        <p:spPr>
          <a:xfrm>
            <a:off x="6053328" y="40233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élan numérique national :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Digital Acceleration Project (Banque mondiale, 100 M US$, approuvé le 18/12/2024) vise plus d'un million de nouveaux accès Internet et 7 000 à 8 000 institutions publiques connectées. </a:t>
            </a:r>
            <a:r>
              <a:rPr lang="en-US" sz="10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Pourtant, l'usage d'Internet atteint 39,5 % en 2024.</a:t>
            </a:r>
            <a:endParaRPr lang="en-US" sz="1080" dirty="0"/>
          </a:p>
        </p:txBody>
      </p:sp>
      <p:sp>
        <p:nvSpPr>
          <p:cNvPr id="150" name="Shape 143"/>
          <p:cNvSpPr/>
          <p:nvPr/>
        </p:nvSpPr>
        <p:spPr>
          <a:xfrm>
            <a:off x="502920" y="5285232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02403A"/>
          </a:solidFill>
          <a:ln/>
        </p:spPr>
      </p:sp>
      <p:sp>
        <p:nvSpPr>
          <p:cNvPr id="151" name="Text 144"/>
          <p:cNvSpPr/>
          <p:nvPr/>
        </p:nvSpPr>
        <p:spPr>
          <a:xfrm>
            <a:off x="777240" y="5285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 err="1">
                <a:solidFill>
                  <a:srgbClr val="FFC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550" b="1" dirty="0">
              <a:solidFill>
                <a:srgbClr val="FFCE00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est le rôle du Mobile Money dans l'inclusion financière au Togo, et où les populations restent-elles encore à l'écart ?</a:t>
            </a:r>
            <a:endParaRPr lang="en-US" sz="2200" dirty="0"/>
          </a:p>
        </p:txBody>
      </p:sp>
      <p:sp>
        <p:nvSpPr>
          <p:cNvPr id="153" name="Text 146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154" name="Text 147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MÉTHODOLOGIE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99" y="329184"/>
            <a:ext cx="1121054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chaîne de traitement traçable, des données de terrain aux recommandations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81328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6130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 terrain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07592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établissements + 19 788 agents (exports 08/01/2025 et 19/12/2024)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46704" y="1280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83864" y="1481328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538" y="1613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51376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RGPH-5 · INSEED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151376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du recensement 2022, par commune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90488" y="1280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481328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322" y="16130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99516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d'Internet, IT.NET.USER.ZS, 2000-2024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9034272" y="128016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71432" y="1481328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106" y="161300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38944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Régulateur télécom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838944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GSM et Internet mobile, 2013-2019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122680" y="2697480"/>
            <a:ext cx="9916160" cy="0"/>
          </a:xfrm>
          <a:prstGeom prst="line">
            <a:avLst/>
          </a:prstGeom>
          <a:noFill/>
          <a:ln w="25400">
            <a:solidFill>
              <a:srgbClr val="B7C4C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8360" y="2423160"/>
            <a:ext cx="548640" cy="548640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034" y="25548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087880" y="242316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554" y="255483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74244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3327400" y="2423160"/>
            <a:ext cx="548640" cy="548640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9074" y="255483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98196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4566920" y="242316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8594" y="2554834"/>
            <a:ext cx="285293" cy="28529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22148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Croisement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5806440" y="2423160"/>
            <a:ext cx="548640" cy="548640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8114" y="2554834"/>
            <a:ext cx="285293" cy="28529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46100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7045960" y="242316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7634" y="2554834"/>
            <a:ext cx="285293" cy="285293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70052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8285480" y="2423160"/>
            <a:ext cx="548640" cy="548640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7154" y="2554834"/>
            <a:ext cx="285293" cy="285293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794004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9525000" y="242316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6674" y="2554834"/>
            <a:ext cx="285293" cy="285293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917956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10764520" y="2423160"/>
            <a:ext cx="548640" cy="548640"/>
          </a:xfrm>
          <a:prstGeom prst="ellipse">
            <a:avLst/>
          </a:prstGeom>
          <a:solidFill>
            <a:srgbClr val="006A4E"/>
          </a:solidFill>
          <a:ln/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96194" y="2554834"/>
            <a:ext cx="285293" cy="285293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10419080" y="3017520"/>
            <a:ext cx="123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950" dirty="0"/>
          </a:p>
        </p:txBody>
      </p:sp>
      <p:sp>
        <p:nvSpPr>
          <p:cNvPr id="52" name="Text 37"/>
          <p:cNvSpPr/>
          <p:nvPr/>
        </p:nvSpPr>
        <p:spPr>
          <a:xfrm>
            <a:off x="502920" y="345643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échelles d'analyse territoriale</a:t>
            </a:r>
            <a:endParaRPr lang="en-US" sz="1200" dirty="0"/>
          </a:p>
        </p:txBody>
      </p:sp>
      <p:sp>
        <p:nvSpPr>
          <p:cNvPr id="53" name="Shape 38"/>
          <p:cNvSpPr/>
          <p:nvPr/>
        </p:nvSpPr>
        <p:spPr>
          <a:xfrm>
            <a:off x="502920" y="3749040"/>
            <a:ext cx="1325880" cy="896112"/>
          </a:xfrm>
          <a:prstGeom prst="roundRect">
            <a:avLst>
              <a:gd name="adj" fmla="val 7143"/>
            </a:avLst>
          </a:prstGeom>
          <a:solidFill>
            <a:srgbClr val="02403A"/>
          </a:solidFill>
          <a:ln/>
        </p:spPr>
      </p:sp>
      <p:sp>
        <p:nvSpPr>
          <p:cNvPr id="54" name="Text 39"/>
          <p:cNvSpPr/>
          <p:nvPr/>
        </p:nvSpPr>
        <p:spPr>
          <a:xfrm>
            <a:off x="502920" y="3776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55" name="Text 40"/>
          <p:cNvSpPr/>
          <p:nvPr/>
        </p:nvSpPr>
        <p:spPr>
          <a:xfrm>
            <a:off x="502920" y="42611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d'analyse</a:t>
            </a:r>
            <a:endParaRPr lang="en-US" sz="950" dirty="0"/>
          </a:p>
        </p:txBody>
      </p:sp>
      <p:sp>
        <p:nvSpPr>
          <p:cNvPr id="56" name="Text 41"/>
          <p:cNvSpPr/>
          <p:nvPr/>
        </p:nvSpPr>
        <p:spPr>
          <a:xfrm>
            <a:off x="1828800" y="3749040"/>
            <a:ext cx="246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7" name="Shape 42"/>
          <p:cNvSpPr/>
          <p:nvPr/>
        </p:nvSpPr>
        <p:spPr>
          <a:xfrm>
            <a:off x="2075688" y="3749040"/>
            <a:ext cx="1325880" cy="896112"/>
          </a:xfrm>
          <a:prstGeom prst="roundRect">
            <a:avLst>
              <a:gd name="adj" fmla="val 7143"/>
            </a:avLst>
          </a:prstGeom>
          <a:solidFill>
            <a:srgbClr val="006A4E"/>
          </a:solidFill>
          <a:ln/>
        </p:spPr>
      </p:sp>
      <p:sp>
        <p:nvSpPr>
          <p:cNvPr id="58" name="Text 43"/>
          <p:cNvSpPr/>
          <p:nvPr/>
        </p:nvSpPr>
        <p:spPr>
          <a:xfrm>
            <a:off x="2075688" y="3776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600" dirty="0"/>
          </a:p>
        </p:txBody>
      </p:sp>
      <p:sp>
        <p:nvSpPr>
          <p:cNvPr id="59" name="Text 44"/>
          <p:cNvSpPr/>
          <p:nvPr/>
        </p:nvSpPr>
        <p:spPr>
          <a:xfrm>
            <a:off x="2075688" y="42611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</a:t>
            </a:r>
            <a:endParaRPr lang="en-US" sz="950" dirty="0"/>
          </a:p>
        </p:txBody>
      </p:sp>
      <p:sp>
        <p:nvSpPr>
          <p:cNvPr id="60" name="Text 45"/>
          <p:cNvSpPr/>
          <p:nvPr/>
        </p:nvSpPr>
        <p:spPr>
          <a:xfrm>
            <a:off x="3401568" y="3749040"/>
            <a:ext cx="246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1" name="Shape 46"/>
          <p:cNvSpPr/>
          <p:nvPr/>
        </p:nvSpPr>
        <p:spPr>
          <a:xfrm>
            <a:off x="3648456" y="3749040"/>
            <a:ext cx="1325880" cy="896112"/>
          </a:xfrm>
          <a:prstGeom prst="roundRect">
            <a:avLst>
              <a:gd name="adj" fmla="val 7143"/>
            </a:avLst>
          </a:prstGeom>
          <a:solidFill>
            <a:srgbClr val="0E9F6E"/>
          </a:solidFill>
          <a:ln/>
        </p:spPr>
      </p:sp>
      <p:sp>
        <p:nvSpPr>
          <p:cNvPr id="62" name="Text 47"/>
          <p:cNvSpPr/>
          <p:nvPr/>
        </p:nvSpPr>
        <p:spPr>
          <a:xfrm>
            <a:off x="3648456" y="3776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2600" dirty="0"/>
          </a:p>
        </p:txBody>
      </p:sp>
      <p:sp>
        <p:nvSpPr>
          <p:cNvPr id="63" name="Text 48"/>
          <p:cNvSpPr/>
          <p:nvPr/>
        </p:nvSpPr>
        <p:spPr>
          <a:xfrm>
            <a:off x="3648456" y="42611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</a:t>
            </a:r>
            <a:endParaRPr lang="en-US" sz="950" dirty="0"/>
          </a:p>
        </p:txBody>
      </p:sp>
      <p:sp>
        <p:nvSpPr>
          <p:cNvPr id="64" name="Text 49"/>
          <p:cNvSpPr/>
          <p:nvPr/>
        </p:nvSpPr>
        <p:spPr>
          <a:xfrm>
            <a:off x="4974336" y="3749040"/>
            <a:ext cx="246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Shape 50"/>
          <p:cNvSpPr/>
          <p:nvPr/>
        </p:nvSpPr>
        <p:spPr>
          <a:xfrm>
            <a:off x="5221224" y="3749040"/>
            <a:ext cx="1325880" cy="896112"/>
          </a:xfrm>
          <a:prstGeom prst="roundRect">
            <a:avLst>
              <a:gd name="adj" fmla="val 7143"/>
            </a:avLst>
          </a:prstGeom>
          <a:solidFill>
            <a:srgbClr val="5FAF3D"/>
          </a:solidFill>
          <a:ln/>
        </p:spPr>
      </p:sp>
      <p:sp>
        <p:nvSpPr>
          <p:cNvPr id="66" name="Text 51"/>
          <p:cNvSpPr/>
          <p:nvPr/>
        </p:nvSpPr>
        <p:spPr>
          <a:xfrm>
            <a:off x="5221224" y="37764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373</a:t>
            </a:r>
            <a:endParaRPr lang="en-US" sz="2600" dirty="0"/>
          </a:p>
        </p:txBody>
      </p:sp>
      <p:sp>
        <p:nvSpPr>
          <p:cNvPr id="67" name="Text 52"/>
          <p:cNvSpPr/>
          <p:nvPr/>
        </p:nvSpPr>
        <p:spPr>
          <a:xfrm>
            <a:off x="5221224" y="42611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cantons</a:t>
            </a:r>
            <a:endParaRPr lang="en-US" sz="950" dirty="0"/>
          </a:p>
        </p:txBody>
      </p:sp>
      <p:sp>
        <p:nvSpPr>
          <p:cNvPr id="68" name="Text 53"/>
          <p:cNvSpPr/>
          <p:nvPr/>
        </p:nvSpPr>
        <p:spPr>
          <a:xfrm>
            <a:off x="502920" y="482803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Traitements réalisés</a:t>
            </a:r>
            <a:endParaRPr lang="en-US" sz="1200" dirty="0"/>
          </a:p>
        </p:txBody>
      </p:sp>
      <p:sp>
        <p:nvSpPr>
          <p:cNvPr id="69" name="Shape 54"/>
          <p:cNvSpPr/>
          <p:nvPr/>
        </p:nvSpPr>
        <p:spPr>
          <a:xfrm>
            <a:off x="502920" y="5230368"/>
            <a:ext cx="118872" cy="118872"/>
          </a:xfrm>
          <a:prstGeom prst="ellipse">
            <a:avLst/>
          </a:prstGeom>
          <a:solidFill>
            <a:srgbClr val="006A4E"/>
          </a:solidFill>
          <a:ln/>
        </p:spPr>
      </p:sp>
      <p:sp>
        <p:nvSpPr>
          <p:cNvPr id="70" name="Text 55"/>
          <p:cNvSpPr/>
          <p:nvPr/>
        </p:nvSpPr>
        <p:spPr>
          <a:xfrm>
            <a:off x="731520" y="51755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de 14 établissements non opérationnels ; dédoublonnage des agents</a:t>
            </a:r>
            <a:endParaRPr lang="en-US" sz="1020" dirty="0"/>
          </a:p>
        </p:txBody>
      </p:sp>
      <p:sp>
        <p:nvSpPr>
          <p:cNvPr id="71" name="Shape 56"/>
          <p:cNvSpPr/>
          <p:nvPr/>
        </p:nvSpPr>
        <p:spPr>
          <a:xfrm>
            <a:off x="502920" y="5559552"/>
            <a:ext cx="118872" cy="118872"/>
          </a:xfrm>
          <a:prstGeom prst="ellipse">
            <a:avLst/>
          </a:prstGeom>
          <a:solidFill>
            <a:srgbClr val="006A4E"/>
          </a:solidFill>
          <a:ln/>
        </p:spPr>
      </p:sp>
      <p:sp>
        <p:nvSpPr>
          <p:cNvPr id="72" name="Text 57"/>
          <p:cNvSpPr/>
          <p:nvPr/>
        </p:nvSpPr>
        <p:spPr>
          <a:xfrm>
            <a:off x="731520" y="55046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habitants/point aux 4 échelles ; indice de Gini avec intervalle de confiance à 95 %</a:t>
            </a:r>
            <a:endParaRPr lang="en-US" sz="1020" dirty="0"/>
          </a:p>
        </p:txBody>
      </p:sp>
      <p:sp>
        <p:nvSpPr>
          <p:cNvPr id="73" name="Shape 58"/>
          <p:cNvSpPr/>
          <p:nvPr/>
        </p:nvSpPr>
        <p:spPr>
          <a:xfrm>
            <a:off x="502920" y="5888736"/>
            <a:ext cx="118872" cy="118872"/>
          </a:xfrm>
          <a:prstGeom prst="ellipse">
            <a:avLst/>
          </a:prstGeom>
          <a:solidFill>
            <a:srgbClr val="006A4E"/>
          </a:solidFill>
          <a:ln/>
        </p:spPr>
      </p:sp>
      <p:sp>
        <p:nvSpPr>
          <p:cNvPr id="74" name="Text 59"/>
          <p:cNvSpPr/>
          <p:nvPr/>
        </p:nvSpPr>
        <p:spPr>
          <a:xfrm>
            <a:off x="731520" y="5833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besoin (IB) pondéré 35 / 25 / 20 / 20, testé sur 2 000 tirages aléatoires de pondérations</a:t>
            </a:r>
            <a:endParaRPr lang="en-US" sz="1020" dirty="0"/>
          </a:p>
        </p:txBody>
      </p:sp>
      <p:sp>
        <p:nvSpPr>
          <p:cNvPr id="75" name="Shape 60"/>
          <p:cNvSpPr/>
          <p:nvPr/>
        </p:nvSpPr>
        <p:spPr>
          <a:xfrm>
            <a:off x="6812280" y="3456432"/>
            <a:ext cx="4846320" cy="2697480"/>
          </a:xfrm>
          <a:prstGeom prst="roundRect">
            <a:avLst>
              <a:gd name="adj" fmla="val 2712"/>
            </a:avLst>
          </a:prstGeom>
          <a:solidFill>
            <a:srgbClr val="FFF7E6"/>
          </a:solidFill>
          <a:ln w="12700">
            <a:solidFill>
              <a:srgbClr val="F0D48A"/>
            </a:solidFill>
            <a:prstDash val="solid"/>
          </a:ln>
        </p:spPr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2592" y="3584448"/>
            <a:ext cx="256032" cy="256032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7360920" y="3566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méthodologiques assumées</a:t>
            </a:r>
            <a:endParaRPr lang="en-US" sz="1250" dirty="0"/>
          </a:p>
        </p:txBody>
      </p:sp>
      <p:sp>
        <p:nvSpPr>
          <p:cNvPr id="78" name="Text 62"/>
          <p:cNvSpPr/>
          <p:nvPr/>
        </p:nvSpPr>
        <p:spPr>
          <a:xfrm>
            <a:off x="7040880" y="395020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Population RGPH-5 (2022) antérieure aux données de terrain (2024-2025)</a:t>
            </a:r>
            <a:endParaRPr lang="en-US" sz="980" dirty="0"/>
          </a:p>
        </p:txBody>
      </p:sp>
      <p:sp>
        <p:nvSpPr>
          <p:cNvPr id="79" name="Text 63"/>
          <p:cNvSpPr/>
          <p:nvPr/>
        </p:nvSpPr>
        <p:spPr>
          <a:xfrm>
            <a:off x="7040880" y="43799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Distances agent → établissement à vol d'oiseau, non routières</a:t>
            </a:r>
            <a:endParaRPr lang="en-US" sz="980" dirty="0"/>
          </a:p>
        </p:txBody>
      </p:sp>
      <p:sp>
        <p:nvSpPr>
          <p:cNvPr id="80" name="Text 64"/>
          <p:cNvSpPr/>
          <p:nvPr/>
        </p:nvSpPr>
        <p:spPr>
          <a:xfrm>
            <a:off x="7040880" y="48097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Aucune limite administrative fiable sous la région : les cartes reposent sur des coordonnées réelles</a:t>
            </a:r>
            <a:endParaRPr lang="en-US" sz="980" dirty="0"/>
          </a:p>
        </p:txBody>
      </p:sp>
      <p:sp>
        <p:nvSpPr>
          <p:cNvPr id="81" name="Text 65"/>
          <p:cNvSpPr/>
          <p:nvPr/>
        </p:nvSpPr>
        <p:spPr>
          <a:xfrm>
            <a:off x="7040880" y="5239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Absence recensée ≠ absence réelle (établissement voisin non compté)</a:t>
            </a:r>
            <a:endParaRPr lang="en-US" sz="980" dirty="0"/>
          </a:p>
        </p:txBody>
      </p:sp>
      <p:sp>
        <p:nvSpPr>
          <p:cNvPr id="82" name="Text 66"/>
          <p:cNvSpPr/>
          <p:nvPr/>
        </p:nvSpPr>
        <p:spPr>
          <a:xfrm>
            <a:off x="7040880" y="566928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6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Pas de superficie : aucune densité par km²</a:t>
            </a:r>
            <a:endParaRPr lang="en-US" sz="980" dirty="0"/>
          </a:p>
        </p:txBody>
      </p:sp>
      <p:sp>
        <p:nvSpPr>
          <p:cNvPr id="83" name="Text 6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84" name="Text 68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NUMÉRIQUE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L'usage d'Internet ralentit ces deux dernières années, malgré un équipement mobile généralisé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371600"/>
          <a:ext cx="53949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32588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graphicFrame>
        <p:nvGraphicFramePr>
          <p:cNvPr id="7" name="Chart 1"/>
          <p:cNvGraphicFramePr/>
          <p:nvPr/>
        </p:nvGraphicFramePr>
        <p:xfrm>
          <a:off x="6217920" y="1371600"/>
          <a:ext cx="53949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023360"/>
            <a:ext cx="5120640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graphicFrame>
        <p:nvGraphicFramePr>
          <p:cNvPr id="9" name="Chart 2"/>
          <p:cNvGraphicFramePr/>
          <p:nvPr/>
        </p:nvGraphicFramePr>
        <p:xfrm>
          <a:off x="548640" y="4069080"/>
          <a:ext cx="5029200" cy="2039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806440" y="4023360"/>
            <a:ext cx="1901952" cy="21305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5916168" y="4160520"/>
            <a:ext cx="365760" cy="54864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12" name="Text 7"/>
          <p:cNvSpPr/>
          <p:nvPr/>
        </p:nvSpPr>
        <p:spPr>
          <a:xfrm>
            <a:off x="5916168" y="42611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916168" y="4526280"/>
            <a:ext cx="1700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cartes SIM et 45 abonnements Internet pour 100 hab. en 2019, mais 21 % d'utilisateurs. Gains de +2,0 et +1,9 pt en 2023-2024, contre +5,3 en 2022 et +8,3 en 2020 (série irrégulière).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799832" y="4023360"/>
            <a:ext cx="1901952" cy="21305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909560" y="4160520"/>
            <a:ext cx="365760" cy="54864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6" name="Text 11"/>
          <p:cNvSpPr/>
          <p:nvPr/>
        </p:nvSpPr>
        <p:spPr>
          <a:xfrm>
            <a:off x="7909560" y="42611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7909560" y="4526280"/>
            <a:ext cx="1700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Détenir une SIM ne suffit pas à expliquer l'usage. L'infrastructure diffère selon l'opérateur : 99,9 % des abonnés Internet mobile de Togocom en 3G/4G, contre 32 % chez Moov (2019).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793224" y="4023360"/>
            <a:ext cx="1901952" cy="21305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02952" y="4160520"/>
            <a:ext cx="365760" cy="5486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5"/>
          <p:cNvSpPr/>
          <p:nvPr/>
        </p:nvSpPr>
        <p:spPr>
          <a:xfrm>
            <a:off x="9902952" y="42611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9902952" y="4526280"/>
            <a:ext cx="17007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enquête ménages TIC est nécessaire avant tout ciblage territorial : aucune ventilation régionale de l'usage n'est disponible à ce jour.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FINANCIER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réseau formel concentré à Grand Lomé, pendant que les Savanes restent sous-dotées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291840" cy="48006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99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établissements formels</a:t>
            </a:r>
            <a:endParaRPr lang="en-US" sz="1150" dirty="0"/>
          </a:p>
        </p:txBody>
      </p:sp>
      <p:pic>
        <p:nvPicPr>
          <p:cNvPr id="6" name="Image 0" descr="/home/claude/work/build/assets/map_e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1719072" cy="4302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42032" y="1920240"/>
            <a:ext cx="182880" cy="182880"/>
          </a:xfrm>
          <a:prstGeom prst="ellipse">
            <a:avLst/>
          </a:prstGeom>
          <a:solidFill>
            <a:srgbClr val="006A4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8892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40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42032" y="2377440"/>
            <a:ext cx="182880" cy="182880"/>
          </a:xfrm>
          <a:prstGeom prst="ellipse">
            <a:avLst/>
          </a:prstGeom>
          <a:solidFill>
            <a:srgbClr val="F2B0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2286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</a:t>
            </a:r>
            <a:endParaRPr lang="en-US" sz="140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Micro-finance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42032" y="2834640"/>
            <a:ext cx="182880" cy="182880"/>
          </a:xfrm>
          <a:prstGeom prst="ellipse">
            <a:avLst/>
          </a:prstGeom>
          <a:solidFill>
            <a:srgbClr val="D2103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88920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40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42032" y="3291840"/>
            <a:ext cx="182880" cy="182880"/>
          </a:xfrm>
          <a:prstGeom prst="ellipse">
            <a:avLst/>
          </a:prstGeom>
          <a:solidFill>
            <a:srgbClr val="0B1F3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20" y="3200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Mutuelle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487168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établissement ; points gris = centre des communes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977640" y="1325880"/>
            <a:ext cx="7680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graphicFrame>
        <p:nvGraphicFramePr>
          <p:cNvPr id="17" name="Chart 0"/>
          <p:cNvGraphicFramePr/>
          <p:nvPr/>
        </p:nvGraphicFramePr>
        <p:xfrm>
          <a:off x="4023360" y="1371600"/>
          <a:ext cx="75895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3977640" y="47091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23944" y="484632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006A4E"/>
          </a:solidFill>
          <a:ln/>
        </p:spPr>
      </p:sp>
      <p:sp>
        <p:nvSpPr>
          <p:cNvPr id="20" name="Text 16"/>
          <p:cNvSpPr/>
          <p:nvPr/>
        </p:nvSpPr>
        <p:spPr>
          <a:xfrm>
            <a:off x="4306824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×1,53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306824" y="5262372"/>
            <a:ext cx="2011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Lomé : 41,3 % des établissements, 27,0 % des habitants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583680" y="47091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729984" y="484632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D21034"/>
          </a:solidFill>
          <a:ln/>
        </p:spPr>
      </p:sp>
      <p:sp>
        <p:nvSpPr>
          <p:cNvPr id="24" name="Text 20"/>
          <p:cNvSpPr/>
          <p:nvPr/>
        </p:nvSpPr>
        <p:spPr>
          <a:xfrm>
            <a:off x="6912864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×0,60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6912864" y="5262372"/>
            <a:ext cx="2011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Savanes : 8,4 % des établissements, 14,1 % des habitants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189720" y="47091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9336024" y="484632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0E9F6E"/>
          </a:solidFill>
          <a:ln/>
        </p:spPr>
      </p:sp>
      <p:sp>
        <p:nvSpPr>
          <p:cNvPr id="28" name="Text 24"/>
          <p:cNvSpPr/>
          <p:nvPr/>
        </p:nvSpPr>
        <p:spPr>
          <a:xfrm>
            <a:off x="9518904" y="47823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2,56×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518904" y="5262372"/>
            <a:ext cx="2011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18 746 vs 7 319 hab. par établissement (Savanes vs Grand Lomé)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794760" y="5779008"/>
            <a:ext cx="839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l'accès financier est-il le plus limité ? </a:t>
            </a:r>
          </a:p>
          <a:p>
            <a:pPr marL="0" indent="0" algn="ctr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Savanes et dans 22 communes sans aucun point formel (81 % des communes en ont au moins un).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infrastructure de proximité bien plus dense que le réseau formel, mais inégalement répartie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291840" cy="48006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99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19 788 agents, par commune</a:t>
            </a:r>
            <a:endParaRPr lang="en-US" sz="1150" dirty="0"/>
          </a:p>
        </p:txBody>
      </p:sp>
      <p:pic>
        <p:nvPicPr>
          <p:cNvPr id="6" name="Image 0" descr="/home/claude/work/build/assets/map_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1719072" cy="4302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42032" y="1810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/ 10 000 hab. (quintiles)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42032" y="2121408"/>
            <a:ext cx="274320" cy="274320"/>
          </a:xfrm>
          <a:prstGeom prst="rect">
            <a:avLst/>
          </a:prstGeom>
          <a:solidFill>
            <a:srgbClr val="D21034"/>
          </a:solidFill>
          <a:ln/>
        </p:spPr>
      </p:sp>
      <p:sp>
        <p:nvSpPr>
          <p:cNvPr id="9" name="Shape 6"/>
          <p:cNvSpPr/>
          <p:nvPr/>
        </p:nvSpPr>
        <p:spPr>
          <a:xfrm>
            <a:off x="2542032" y="2395728"/>
            <a:ext cx="274320" cy="27432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0" name="Shape 7"/>
          <p:cNvSpPr/>
          <p:nvPr/>
        </p:nvSpPr>
        <p:spPr>
          <a:xfrm>
            <a:off x="2542032" y="2670048"/>
            <a:ext cx="274320" cy="27432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1" name="Shape 8"/>
          <p:cNvSpPr/>
          <p:nvPr/>
        </p:nvSpPr>
        <p:spPr>
          <a:xfrm>
            <a:off x="2542032" y="2944368"/>
            <a:ext cx="274320" cy="27432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2" name="Shape 9"/>
          <p:cNvSpPr/>
          <p:nvPr/>
        </p:nvSpPr>
        <p:spPr>
          <a:xfrm>
            <a:off x="2542032" y="3218688"/>
            <a:ext cx="274320" cy="2743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32186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densité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880360" y="21214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densité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542032" y="3840480"/>
            <a:ext cx="274320" cy="274320"/>
          </a:xfrm>
          <a:prstGeom prst="ellipse">
            <a:avLst/>
          </a:prstGeom>
          <a:ln w="25400">
            <a:solidFill>
              <a:srgbClr val="0B1F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80360" y="3767328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MM-only (22)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542032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= population de la commune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977640" y="1325880"/>
            <a:ext cx="7680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graphicFrame>
        <p:nvGraphicFramePr>
          <p:cNvPr id="19" name="Chart 0"/>
          <p:cNvGraphicFramePr/>
          <p:nvPr/>
        </p:nvGraphicFramePr>
        <p:xfrm>
          <a:off x="4023360" y="1371600"/>
          <a:ext cx="7589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3977640" y="4389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23944" y="4526280"/>
            <a:ext cx="73152" cy="777240"/>
          </a:xfrm>
          <a:prstGeom prst="roundRect">
            <a:avLst>
              <a:gd name="adj" fmla="val 37500"/>
            </a:avLst>
          </a:prstGeom>
          <a:solidFill>
            <a:srgbClr val="006A4E"/>
          </a:solidFill>
          <a:ln/>
        </p:spPr>
      </p:sp>
      <p:sp>
        <p:nvSpPr>
          <p:cNvPr id="22" name="Text 18"/>
          <p:cNvSpPr/>
          <p:nvPr/>
        </p:nvSpPr>
        <p:spPr>
          <a:xfrm>
            <a:off x="4306824" y="4462272"/>
            <a:ext cx="1371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27,3×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306824" y="4967478"/>
            <a:ext cx="13716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pour 1 établissement formel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897880" y="4389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44184" y="4526280"/>
            <a:ext cx="73152" cy="777240"/>
          </a:xfrm>
          <a:prstGeom prst="roundRect">
            <a:avLst>
              <a:gd name="adj" fmla="val 37500"/>
            </a:avLst>
          </a:prstGeom>
          <a:solidFill>
            <a:srgbClr val="0E9F6E"/>
          </a:solidFill>
          <a:ln/>
        </p:spPr>
      </p:sp>
      <p:sp>
        <p:nvSpPr>
          <p:cNvPr id="26" name="Text 22"/>
          <p:cNvSpPr/>
          <p:nvPr/>
        </p:nvSpPr>
        <p:spPr>
          <a:xfrm>
            <a:off x="6227064" y="4462272"/>
            <a:ext cx="14630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 | 11 182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6227064" y="4967478"/>
            <a:ext cx="146304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agent | par établissement formel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909560" y="4389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55864" y="4526280"/>
            <a:ext cx="73152" cy="777240"/>
          </a:xfrm>
          <a:prstGeom prst="roundRect">
            <a:avLst>
              <a:gd name="adj" fmla="val 37500"/>
            </a:avLst>
          </a:prstGeom>
          <a:solidFill>
            <a:srgbClr val="F28C28"/>
          </a:solidFill>
          <a:ln/>
        </p:spPr>
      </p:sp>
      <p:sp>
        <p:nvSpPr>
          <p:cNvPr id="30" name="Text 26"/>
          <p:cNvSpPr/>
          <p:nvPr/>
        </p:nvSpPr>
        <p:spPr>
          <a:xfrm>
            <a:off x="8238744" y="4462272"/>
            <a:ext cx="1371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64 %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8238744" y="4967478"/>
            <a:ext cx="13716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agents proposent les deux opérateurs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9829800" y="43891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9976104" y="4526280"/>
            <a:ext cx="73152" cy="777240"/>
          </a:xfrm>
          <a:prstGeom prst="roundRect">
            <a:avLst>
              <a:gd name="adj" fmla="val 37500"/>
            </a:avLst>
          </a:prstGeom>
          <a:solidFill>
            <a:srgbClr val="D21034"/>
          </a:solidFill>
          <a:ln/>
        </p:spPr>
      </p:sp>
      <p:sp>
        <p:nvSpPr>
          <p:cNvPr id="34" name="Text 30"/>
          <p:cNvSpPr/>
          <p:nvPr/>
        </p:nvSpPr>
        <p:spPr>
          <a:xfrm>
            <a:off x="10158984" y="4462272"/>
            <a:ext cx="1371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7,7 %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10158984" y="4967478"/>
            <a:ext cx="13716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agents à plus de 10 km d'un établissement formel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977640" y="5532120"/>
            <a:ext cx="7680960" cy="740664"/>
          </a:xfrm>
          <a:prstGeom prst="roundRect">
            <a:avLst>
              <a:gd name="adj" fmla="val 10769"/>
            </a:avLst>
          </a:prstGeom>
          <a:solidFill>
            <a:srgbClr val="02403A"/>
          </a:solidFill>
          <a:ln/>
        </p:spPr>
      </p:sp>
      <p:sp>
        <p:nvSpPr>
          <p:cNvPr id="37" name="Text 33"/>
          <p:cNvSpPr/>
          <p:nvPr/>
        </p:nvSpPr>
        <p:spPr>
          <a:xfrm>
            <a:off x="4160520" y="5559552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de proximité ?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: plus dense et plus homogène entre régions (écart 1,63× contre 2,56×). </a:t>
            </a:r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22 communes en dépendent seules, dont 9 au maillage lui-même ténu (377 287 hab.).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FINANCIÈRE ET DISPARITÉS TERRITORIALES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déficit d'accès qui touche 1 habitant sur 4, concentré dans des territoires identifiables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474720" cy="48006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desserte formelle</a:t>
            </a:r>
            <a:endParaRPr lang="en-US" sz="1150" dirty="0"/>
          </a:p>
        </p:txBody>
      </p:sp>
      <p:pic>
        <p:nvPicPr>
          <p:cNvPr id="6" name="Image 0" descr="/home/claude/work/build/assets/map_n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1719072" cy="4302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42032" y="1874520"/>
            <a:ext cx="182880" cy="182880"/>
          </a:xfrm>
          <a:prstGeom prst="ellipse">
            <a:avLst/>
          </a:prstGeom>
          <a:solidFill>
            <a:srgbClr val="D2103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788920" y="1801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communes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(MM-only)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42032" y="2331720"/>
            <a:ext cx="182880" cy="182880"/>
          </a:xfrm>
          <a:prstGeom prst="ellipse">
            <a:avLst/>
          </a:prstGeom>
          <a:solidFill>
            <a:srgbClr val="E8703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788920" y="22585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communes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faible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2032" y="2788920"/>
            <a:ext cx="182880" cy="182880"/>
          </a:xfrm>
          <a:prstGeom prst="ellipse">
            <a:avLst/>
          </a:prstGeom>
          <a:solidFill>
            <a:srgbClr val="FFCE0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2788920" y="2715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communes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42032" y="3246120"/>
            <a:ext cx="182880" cy="182880"/>
          </a:xfrm>
          <a:prstGeom prst="ellipse">
            <a:avLst/>
          </a:prstGeom>
          <a:solidFill>
            <a:srgbClr val="8BC3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788920" y="3172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communes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42032" y="3703320"/>
            <a:ext cx="182880" cy="182880"/>
          </a:xfrm>
          <a:prstGeom prst="ellipse">
            <a:avLst/>
          </a:prstGeom>
          <a:solidFill>
            <a:srgbClr val="0E9F6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788920" y="3630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communes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487168" y="4206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= population de la commune ; couleur = niveau d'accès aux établissements formels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160520" y="132588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15"/>
          <p:cNvSpPr/>
          <p:nvPr/>
        </p:nvSpPr>
        <p:spPr>
          <a:xfrm>
            <a:off x="8001000" y="132588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4160520" y="46634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4306824" y="48006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D2103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4489704" y="4736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26,3 %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489704" y="5216652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(43 communes) en accès formel nul ou très faible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675120" y="46634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6821424" y="48006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006A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7004304" y="4736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×3,3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7004304" y="5216652"/>
            <a:ext cx="192024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« Élevé » : 6,9 % de la pop., 22,9 % des établissements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9189720" y="46634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9336024" y="4800600"/>
            <a:ext cx="73152" cy="731520"/>
          </a:xfrm>
          <a:prstGeom prst="roundRect">
            <a:avLst>
              <a:gd name="adj" fmla="val 37500"/>
            </a:avLst>
          </a:prstGeom>
          <a:solidFill>
            <a:srgbClr val="0E9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6"/>
          <p:cNvSpPr/>
          <p:nvPr/>
        </p:nvSpPr>
        <p:spPr>
          <a:xfrm>
            <a:off x="9518904" y="4736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0,43 | 0,38</a:t>
            </a:r>
            <a:endParaRPr lang="en-US" sz="1900" dirty="0"/>
          </a:p>
        </p:txBody>
      </p:sp>
      <p:sp>
        <p:nvSpPr>
          <p:cNvPr id="31" name="Text 27"/>
          <p:cNvSpPr/>
          <p:nvPr/>
        </p:nvSpPr>
        <p:spPr>
          <a:xfrm>
            <a:off x="9518904" y="5216652"/>
            <a:ext cx="2011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communal : formel | Mobile Money (écart non significatif)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160520" y="576072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Croiser établissements, agents et population fait ressortir des territoires précis : c'est ce socle qui alimente la priorisation</a:t>
            </a:r>
            <a:r>
              <a:rPr lang="en-US" sz="1100" i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224528" y="1417320"/>
          <a:ext cx="3529584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8065008" y="1417320"/>
          <a:ext cx="3529584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ET INSIGHTS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communes prioritaires, validées par un test de </a:t>
            </a:r>
            <a:r>
              <a:rPr lang="en-US" sz="2600" b="1" dirty="0" err="1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434840" cy="480060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399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de priorité des communes</a:t>
            </a:r>
            <a:endParaRPr lang="en-US" sz="1150" dirty="0"/>
          </a:p>
        </p:txBody>
      </p:sp>
      <p:pic>
        <p:nvPicPr>
          <p:cNvPr id="6" name="Image 0" descr="/home/claude/work/build/assets/map_p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19072"/>
            <a:ext cx="2975332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5815584"/>
            <a:ext cx="155448" cy="155448"/>
          </a:xfrm>
          <a:prstGeom prst="ellipse">
            <a:avLst/>
          </a:prstGeom>
          <a:solidFill>
            <a:srgbClr val="D2103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86968" y="5760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10 communes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764792" y="5815584"/>
            <a:ext cx="155448" cy="155448"/>
          </a:xfrm>
          <a:prstGeom prst="ellipse">
            <a:avLst/>
          </a:prstGeom>
          <a:solidFill>
            <a:srgbClr val="F28C2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965960" y="5760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19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843784" y="5815584"/>
            <a:ext cx="155448" cy="155448"/>
          </a:xfrm>
          <a:prstGeom prst="ellipse">
            <a:avLst/>
          </a:prstGeom>
          <a:solidFill>
            <a:srgbClr val="F2D27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044952" y="5760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29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22776" y="5815584"/>
            <a:ext cx="155448" cy="155448"/>
          </a:xfrm>
          <a:prstGeom prst="ellipse">
            <a:avLst/>
          </a:prstGeom>
          <a:solidFill>
            <a:srgbClr val="C5CFD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123944" y="5760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58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20640" y="12984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besoin (IB) — pondération retenue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120640" y="1572768"/>
            <a:ext cx="2288286" cy="365760"/>
          </a:xfrm>
          <a:prstGeom prst="rect">
            <a:avLst/>
          </a:prstGeom>
          <a:solidFill>
            <a:srgbClr val="02403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120640" y="1572768"/>
            <a:ext cx="2288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1956816"/>
            <a:ext cx="2288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d'accès formel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08926" y="1572768"/>
            <a:ext cx="1634490" cy="365760"/>
          </a:xfrm>
          <a:prstGeom prst="rect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408926" y="1572768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8926" y="1956816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démographique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043416" y="1572768"/>
            <a:ext cx="1307592" cy="365760"/>
          </a:xfrm>
          <a:prstGeom prst="rect">
            <a:avLst/>
          </a:prstGeom>
          <a:solidFill>
            <a:srgbClr val="FFCE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9043416" y="157276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43416" y="195681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Mobile Money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0351008" y="1572768"/>
            <a:ext cx="1307592" cy="365760"/>
          </a:xfrm>
          <a:prstGeom prst="rect">
            <a:avLst/>
          </a:prstGeom>
          <a:solidFill>
            <a:srgbClr val="D2103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10351008" y="157276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351008" y="1956816"/>
            <a:ext cx="1307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/ distance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120640" y="2286000"/>
            <a:ext cx="6537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29" name="Chart 0"/>
          <p:cNvGraphicFramePr/>
          <p:nvPr/>
        </p:nvGraphicFramePr>
        <p:xfrm>
          <a:off x="5166360" y="2331720"/>
          <a:ext cx="64465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5120640" y="47548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5266944" y="4892040"/>
            <a:ext cx="73152" cy="640080"/>
          </a:xfrm>
          <a:prstGeom prst="roundRect">
            <a:avLst>
              <a:gd name="adj" fmla="val 37500"/>
            </a:avLst>
          </a:prstGeom>
          <a:solidFill>
            <a:srgbClr val="D2103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8"/>
          <p:cNvSpPr/>
          <p:nvPr/>
        </p:nvSpPr>
        <p:spPr>
          <a:xfrm>
            <a:off x="5449824" y="48280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communes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5449824" y="5257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+ P2 : 1 369 893 hab. (16,9 %)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342632" y="47548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1"/>
          <p:cNvSpPr/>
          <p:nvPr/>
        </p:nvSpPr>
        <p:spPr>
          <a:xfrm>
            <a:off x="7488936" y="4892040"/>
            <a:ext cx="73152" cy="640080"/>
          </a:xfrm>
          <a:prstGeom prst="roundRect">
            <a:avLst>
              <a:gd name="adj" fmla="val 37500"/>
            </a:avLst>
          </a:prstGeom>
          <a:solidFill>
            <a:srgbClr val="006A4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2"/>
          <p:cNvSpPr/>
          <p:nvPr/>
        </p:nvSpPr>
        <p:spPr>
          <a:xfrm>
            <a:off x="7671816" y="48280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communes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7671816" y="5257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stable : top 15 dans ≥ 80 % de 2 000 tirages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9564624" y="4754880"/>
            <a:ext cx="209397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5"/>
          <p:cNvSpPr/>
          <p:nvPr/>
        </p:nvSpPr>
        <p:spPr>
          <a:xfrm>
            <a:off x="9710928" y="4892040"/>
            <a:ext cx="73152" cy="640080"/>
          </a:xfrm>
          <a:prstGeom prst="roundRect">
            <a:avLst>
              <a:gd name="adj" fmla="val 37500"/>
            </a:avLst>
          </a:prstGeom>
          <a:solidFill>
            <a:srgbClr val="F28C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6"/>
          <p:cNvSpPr/>
          <p:nvPr/>
        </p:nvSpPr>
        <p:spPr>
          <a:xfrm>
            <a:off x="9893808" y="4828032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Kpendjal 100 %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9893808" y="525780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préfecture entièrement en P1/P2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120640" y="5742432"/>
            <a:ext cx="6537960" cy="530352"/>
          </a:xfrm>
          <a:prstGeom prst="roundRect">
            <a:avLst>
              <a:gd name="adj" fmla="val 15000"/>
            </a:avLst>
          </a:prstGeom>
          <a:solidFill>
            <a:srgbClr val="EFF6F2"/>
          </a:solidFill>
          <a:ln w="12700">
            <a:solidFill>
              <a:srgbClr val="D3E7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9"/>
          <p:cNvSpPr/>
          <p:nvPr/>
        </p:nvSpPr>
        <p:spPr>
          <a:xfrm>
            <a:off x="5257800" y="5779008"/>
            <a:ext cx="6309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généralisé à Kpendjal (88 365 hab.)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Implication : 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à l'échelle de la préfecture.</a:t>
            </a:r>
            <a:endParaRPr lang="en-US" sz="1500" dirty="0"/>
          </a:p>
        </p:txBody>
      </p:sp>
      <p:sp>
        <p:nvSpPr>
          <p:cNvPr id="45" name="Text 41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6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ciblées sur des territoires identifiés, pilotées par des indicateurs de suivi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89888"/>
            <a:ext cx="475488" cy="475488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1499616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37160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R-F1  ·  COURT-MOYEN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depuis le pôle voisin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0080" y="1920239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points formels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224942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communes MM-only à ≤ 15 km d'un pôle (469 719 hab.)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640080" y="318211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points créés ; hab./point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261104" y="126187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8264" y="1389888"/>
            <a:ext cx="475488" cy="475488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381" y="1499616"/>
            <a:ext cx="247254" cy="247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4336" y="137160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R-F3  ·  MOYEN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Densifier le réseau existant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398264" y="1920239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points formels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398264" y="224942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communes P1/P2 à établissement unique malgré &gt; 40 000 hab. (610 294 hab.)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4398264" y="318211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points créés ; hab./</a:t>
            </a:r>
            <a:r>
              <a:rPr lang="en-US" sz="880" b="1" dirty="0" err="1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8019288" y="126187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56448" y="1389888"/>
            <a:ext cx="475488" cy="475488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565" y="1499616"/>
            <a:ext cx="247254" cy="24725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2520" y="137160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R-F6  ·  MOYEN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pôles fragiles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8156448" y="1920239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pôles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156448" y="224942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établissements chacun, pour 277 655 hab. de communes MM-only</a:t>
            </a:r>
            <a:endParaRPr lang="en-US" sz="880" dirty="0"/>
          </a:p>
        </p:txBody>
      </p:sp>
      <p:sp>
        <p:nvSpPr>
          <p:cNvPr id="27" name="Text 22"/>
          <p:cNvSpPr/>
          <p:nvPr/>
        </p:nvSpPr>
        <p:spPr>
          <a:xfrm>
            <a:off x="8156448" y="318211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pôles à ≥ 3 établissements (5 sur 5 visé)</a:t>
            </a:r>
            <a:endParaRPr lang="en-US" sz="880" dirty="0"/>
          </a:p>
        </p:txBody>
      </p:sp>
      <p:sp>
        <p:nvSpPr>
          <p:cNvPr id="28" name="Shape 23"/>
          <p:cNvSpPr/>
          <p:nvPr/>
        </p:nvSpPr>
        <p:spPr>
          <a:xfrm>
            <a:off x="502920" y="350215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0080" y="3630168"/>
            <a:ext cx="475488" cy="475488"/>
          </a:xfrm>
          <a:prstGeom prst="ellipse">
            <a:avLst/>
          </a:prstGeom>
          <a:solidFill>
            <a:srgbClr val="C9760A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97" y="3739896"/>
            <a:ext cx="247254" cy="24725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16152" y="361188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R-F2  ·  CONDITIONNEL  ·  MOYEN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avant d'implanter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40080" y="4160520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7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viabilité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640080" y="448970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communes MM-only à &gt; 15 km d'un point formel (289 880 hab.)</a:t>
            </a:r>
            <a:endParaRPr lang="en-US" sz="880" dirty="0"/>
          </a:p>
        </p:txBody>
      </p:sp>
      <p:sp>
        <p:nvSpPr>
          <p:cNvPr id="35" name="Text 29"/>
          <p:cNvSpPr/>
          <p:nvPr/>
        </p:nvSpPr>
        <p:spPr>
          <a:xfrm>
            <a:off x="640080" y="542239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étude publiée ; distance </a:t>
            </a:r>
            <a:r>
              <a:rPr lang="en-US" sz="880" b="1" dirty="0" err="1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</a:t>
            </a:r>
            <a:endParaRPr lang="en-US" sz="880" dirty="0"/>
          </a:p>
        </p:txBody>
      </p:sp>
      <p:sp>
        <p:nvSpPr>
          <p:cNvPr id="36" name="Shape 30"/>
          <p:cNvSpPr/>
          <p:nvPr/>
        </p:nvSpPr>
        <p:spPr>
          <a:xfrm>
            <a:off x="4261104" y="350215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398264" y="3630168"/>
            <a:ext cx="475488" cy="475488"/>
          </a:xfrm>
          <a:prstGeom prst="ellipse">
            <a:avLst/>
          </a:prstGeom>
          <a:solidFill>
            <a:srgbClr val="02403A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381" y="3739896"/>
            <a:ext cx="247254" cy="24725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974336" y="361188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R-F4 / R-F5  ·  MOYEN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Consolider les régions en retard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4398264" y="4160520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régions</a:t>
            </a:r>
            <a:endParaRPr lang="en-US" sz="1700" dirty="0"/>
          </a:p>
        </p:txBody>
      </p:sp>
      <p:sp>
        <p:nvSpPr>
          <p:cNvPr id="41" name="Text 34"/>
          <p:cNvSpPr/>
          <p:nvPr/>
        </p:nvSpPr>
        <p:spPr>
          <a:xfrm>
            <a:off x="4398264" y="448970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Savanes : 18 746 hab. par établissement ; Plateaux et Maritime intérieur : densité d'agents la plus faible</a:t>
            </a:r>
            <a:endParaRPr lang="en-US" sz="880" dirty="0"/>
          </a:p>
        </p:txBody>
      </p:sp>
      <p:sp>
        <p:nvSpPr>
          <p:cNvPr id="43" name="Text 36"/>
          <p:cNvSpPr/>
          <p:nvPr/>
        </p:nvSpPr>
        <p:spPr>
          <a:xfrm>
            <a:off x="4398264" y="542239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hab./établissement ; points/10 000 hab.</a:t>
            </a:r>
            <a:endParaRPr lang="en-US" sz="880" dirty="0"/>
          </a:p>
        </p:txBody>
      </p:sp>
      <p:sp>
        <p:nvSpPr>
          <p:cNvPr id="44" name="Shape 37"/>
          <p:cNvSpPr/>
          <p:nvPr/>
        </p:nvSpPr>
        <p:spPr>
          <a:xfrm>
            <a:off x="8019288" y="3502152"/>
            <a:ext cx="3630168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9AA5B1">
                <a:alpha val="16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156448" y="3630168"/>
            <a:ext cx="475488" cy="475488"/>
          </a:xfrm>
          <a:prstGeom prst="ellipse">
            <a:avLst/>
          </a:prstGeom>
          <a:solidFill>
            <a:srgbClr val="D21034"/>
          </a:solidFill>
          <a:ln/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565" y="3739896"/>
            <a:ext cx="247254" cy="24725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732520" y="3611880"/>
            <a:ext cx="2807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210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R-I1 / R-I5  ·  ÉTUDE REQUISE  ·  COURT TERME</a:t>
            </a:r>
            <a:endParaRPr lang="en-US" sz="8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avant de cibler Internet</a:t>
            </a:r>
            <a:endParaRPr lang="en-US" sz="850" dirty="0"/>
          </a:p>
        </p:txBody>
      </p:sp>
      <p:sp>
        <p:nvSpPr>
          <p:cNvPr id="48" name="Text 40"/>
          <p:cNvSpPr/>
          <p:nvPr/>
        </p:nvSpPr>
        <p:spPr>
          <a:xfrm>
            <a:off x="8156448" y="4160520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enquête ménages TIC</a:t>
            </a:r>
            <a:endParaRPr lang="en-US" sz="1700" dirty="0"/>
          </a:p>
        </p:txBody>
      </p:sp>
      <p:sp>
        <p:nvSpPr>
          <p:cNvPr id="49" name="Text 41"/>
          <p:cNvSpPr/>
          <p:nvPr/>
        </p:nvSpPr>
        <p:spPr>
          <a:xfrm>
            <a:off x="8156448" y="4489704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non ventilé ; 9 communes MM-only au maillage ténu (377 287 hab.)</a:t>
            </a:r>
            <a:endParaRPr lang="en-US" sz="880" dirty="0"/>
          </a:p>
        </p:txBody>
      </p:sp>
      <p:sp>
        <p:nvSpPr>
          <p:cNvPr id="51" name="Text 43"/>
          <p:cNvSpPr/>
          <p:nvPr/>
        </p:nvSpPr>
        <p:spPr>
          <a:xfrm>
            <a:off x="8156448" y="5422392"/>
            <a:ext cx="3355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: usage d'Internet par </a:t>
            </a:r>
            <a:r>
              <a:rPr lang="en-US" sz="880" b="1" dirty="0" err="1">
                <a:solidFill>
                  <a:srgbClr val="02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880" dirty="0"/>
          </a:p>
        </p:txBody>
      </p:sp>
      <p:sp>
        <p:nvSpPr>
          <p:cNvPr id="62" name="Text 54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Numérique —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11338560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4" name="Rounded Rectangle 63"/>
          <p:cNvSpPr/>
          <p:nvPr/>
        </p:nvSpPr>
        <p:spPr>
          <a:xfrm>
            <a:off x="640080" y="259689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>
                <a:solidFill>
                  <a:srgbClr val="02403A"/>
                </a:solidFill>
                <a:latin typeface="Calibri"/>
              </a:rPr>
              <a:t>Communes MM-only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concernées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Dankpen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Tone 4,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Haho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Tone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Dankpen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Wawa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Agou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Tchaoudjo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4, Wawa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Kozah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Kozah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4,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Bassar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4,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Assoli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Assoli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98264" y="259689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>
                <a:solidFill>
                  <a:srgbClr val="02403A"/>
                </a:solidFill>
                <a:latin typeface="Calibri"/>
              </a:rPr>
              <a:t>Communes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concernées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Est-Mono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Anié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Tchamba 2, Tone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Kpendjal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-Ouest 1, Amou 3, Oti-Sud 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56448" y="259689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 err="1">
                <a:solidFill>
                  <a:srgbClr val="02403A"/>
                </a:solidFill>
                <a:latin typeface="Calibri"/>
              </a:rPr>
              <a:t>Pôles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concernés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Bassar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Akebou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1, Oti-Sud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Kpendjal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-Ouest 1 et 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83717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>
                <a:solidFill>
                  <a:srgbClr val="02403A"/>
                </a:solidFill>
                <a:latin typeface="Calibri"/>
              </a:rPr>
              <a:t>Communes à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étudier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Keran 2 et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Kpendjal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1 et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Blitta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Akebou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Tchaoudjo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 et 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98264" y="483717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 err="1">
                <a:solidFill>
                  <a:srgbClr val="02403A"/>
                </a:solidFill>
                <a:latin typeface="Calibri"/>
              </a:rPr>
              <a:t>Régions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Savanes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;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Plateaux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; Maritime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intérieur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.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Pôles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à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consolider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: Tone 1,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Kpendjal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-Ouest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Cinkasse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56448" y="4837176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49377" rIns="82296" bIns="49377" rtlCol="0" anchor="ctr"/>
          <a:lstStyle/>
          <a:p>
            <a:pPr algn="l"/>
            <a:r>
              <a:rPr sz="1000" b="1" i="0" dirty="0">
                <a:solidFill>
                  <a:srgbClr val="02403A"/>
                </a:solidFill>
                <a:latin typeface="Calibri"/>
              </a:rPr>
              <a:t>National,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puis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9 communes à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maillage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02403A"/>
                </a:solidFill>
                <a:latin typeface="Calibri"/>
              </a:rPr>
              <a:t>ténu</a:t>
            </a:r>
            <a:r>
              <a:rPr sz="10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Dankpen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 et 3, Keran 2 et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Kpendjal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1 et 2,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Blitta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3, </a:t>
            </a:r>
            <a:r>
              <a:rPr sz="1000" b="1" i="0" dirty="0" err="1">
                <a:solidFill>
                  <a:srgbClr val="0B1F33"/>
                </a:solidFill>
                <a:latin typeface="Calibri"/>
              </a:rPr>
              <a:t>Akebou</a:t>
            </a:r>
            <a:r>
              <a:rPr sz="1000" b="1" i="0" dirty="0">
                <a:solidFill>
                  <a:srgbClr val="0B1F33"/>
                </a:solidFill>
                <a:latin typeface="Calibri"/>
              </a:rPr>
              <a:t> 2, Wawa 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5779008"/>
            <a:ext cx="1463040" cy="658368"/>
          </a:xfrm>
          <a:prstGeom prst="rect">
            <a:avLst/>
          </a:prstGeom>
          <a:solidFill>
            <a:srgbClr val="02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6809" rIns="128016" bIns="76809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Jalons de suivi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0" y="5779008"/>
            <a:ext cx="4800600" cy="658368"/>
          </a:xfrm>
          <a:prstGeom prst="rect">
            <a:avLst/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just"/>
            <a:r>
              <a:rPr sz="1200" b="1" i="0" dirty="0">
                <a:solidFill>
                  <a:srgbClr val="02403A"/>
                </a:solidFill>
                <a:latin typeface="Calibri"/>
              </a:rPr>
              <a:t>À 12 </a:t>
            </a:r>
            <a:r>
              <a:rPr sz="1200" b="1" i="0" dirty="0" err="1">
                <a:solidFill>
                  <a:srgbClr val="02403A"/>
                </a:solidFill>
                <a:latin typeface="Calibri"/>
              </a:rPr>
              <a:t>mois</a:t>
            </a:r>
            <a:r>
              <a:rPr sz="12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≈ 14 points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créés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R-F1 et ≈ 14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R-F3 · 2 à 3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pôles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renforcés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(R-F6) · étude de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viabilité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(R-F2),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enquête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TIC (R-I1) et audit des agents (R-I5)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réalisés</a:t>
            </a:r>
            <a:endParaRPr sz="1200" b="0" i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858000" y="5779008"/>
            <a:ext cx="4800600" cy="658368"/>
          </a:xfrm>
          <a:prstGeom prst="rect">
            <a:avLst/>
          </a:prstGeom>
          <a:solidFill>
            <a:srgbClr val="EA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just"/>
            <a:r>
              <a:rPr sz="1200" b="1" i="0" dirty="0">
                <a:solidFill>
                  <a:srgbClr val="02403A"/>
                </a:solidFill>
                <a:latin typeface="Calibri"/>
              </a:rPr>
              <a:t>À 24 </a:t>
            </a:r>
            <a:r>
              <a:rPr sz="1200" b="1" i="0" dirty="0" err="1">
                <a:solidFill>
                  <a:srgbClr val="02403A"/>
                </a:solidFill>
                <a:latin typeface="Calibri"/>
              </a:rPr>
              <a:t>mois</a:t>
            </a:r>
            <a:r>
              <a:rPr sz="1200" b="1" i="0" dirty="0">
                <a:solidFill>
                  <a:srgbClr val="02403A"/>
                </a:solidFill>
                <a:latin typeface="Calibri"/>
              </a:rPr>
              <a:t> : 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47 points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créés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R-F1 et 46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R-F3 · 5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pôles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sur 5 à ≥ 3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établissements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(R-F6) ·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décisions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d'implantation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prises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commune par commune (R-F2) ·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résultats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d'enquête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publiés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par </a:t>
            </a:r>
            <a:r>
              <a:rPr sz="1200" b="0" i="0" dirty="0" err="1">
                <a:solidFill>
                  <a:srgbClr val="334155"/>
                </a:solidFill>
                <a:latin typeface="Calibri"/>
              </a:rPr>
              <a:t>région</a:t>
            </a:r>
            <a:r>
              <a:rPr sz="1200" b="0" i="0" dirty="0">
                <a:solidFill>
                  <a:srgbClr val="334155"/>
                </a:solidFill>
                <a:latin typeface="Calibri"/>
              </a:rPr>
              <a:t> (R-I1)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L'ACTION</a:t>
            </a:r>
            <a:endParaRPr lang="en-US" sz="1200" dirty="0"/>
          </a:p>
        </p:txBody>
      </p:sp>
      <p:sp>
        <p:nvSpPr>
          <p:cNvPr id="17" name="Text 0"/>
          <p:cNvSpPr/>
          <p:nvPr/>
        </p:nvSpPr>
        <p:spPr>
          <a:xfrm>
            <a:off x="640080" y="128016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perspectives et ouverture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1"/>
            <a:ext cx="502920" cy="502920"/>
          </a:xfrm>
          <a:prstGeom prst="ellipse">
            <a:avLst/>
          </a:prstGeom>
          <a:solidFill>
            <a:srgbClr val="0E9F6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748332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91055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: 27,3× plus de points que le réseau formel, mais 22 communes (759 599 hab.) en dépendent seules.</a:t>
            </a:r>
            <a:endParaRPr lang="en-US" sz="1130" dirty="0"/>
          </a:p>
        </p:txBody>
      </p:sp>
      <p:sp>
        <p:nvSpPr>
          <p:cNvPr id="7" name="Shape 4"/>
          <p:cNvSpPr/>
          <p:nvPr/>
        </p:nvSpPr>
        <p:spPr>
          <a:xfrm>
            <a:off x="640080" y="2285999"/>
            <a:ext cx="502920" cy="502920"/>
          </a:xfrm>
          <a:prstGeom prst="ellipse">
            <a:avLst/>
          </a:prstGeom>
          <a:solidFill>
            <a:srgbClr val="D2103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2406700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249423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communes prioritaires (1 369 893 hab., 16,9 %), validées par 2 000 tirages aléatoires de pondérations.</a:t>
            </a:r>
            <a:endParaRPr lang="en-US" sz="1130" dirty="0"/>
          </a:p>
        </p:txBody>
      </p:sp>
      <p:sp>
        <p:nvSpPr>
          <p:cNvPr id="10" name="Shape 6"/>
          <p:cNvSpPr/>
          <p:nvPr/>
        </p:nvSpPr>
        <p:spPr>
          <a:xfrm>
            <a:off x="640080" y="2944367"/>
            <a:ext cx="502920" cy="502920"/>
          </a:xfrm>
          <a:prstGeom prst="ellipse">
            <a:avLst/>
          </a:prstGeom>
          <a:solidFill>
            <a:srgbClr val="C9A20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3065068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907791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ciblées : 93 points formels dans 21 communes (R-F1, R-F3) et 5 pôles fragiles renforcés (R-F6), suivis par des indicateurs communs.</a:t>
            </a:r>
            <a:endParaRPr lang="en-US" sz="1130" dirty="0"/>
          </a:p>
        </p:txBody>
      </p:sp>
      <p:sp>
        <p:nvSpPr>
          <p:cNvPr id="13" name="Shape 8"/>
          <p:cNvSpPr/>
          <p:nvPr/>
        </p:nvSpPr>
        <p:spPr>
          <a:xfrm>
            <a:off x="640080" y="3602736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3723437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566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3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d'Internet : +1,9 pt en 2024, sans ventilation territoriale ; l'enquête TIC (R-I1) est un préalable.</a:t>
            </a:r>
            <a:endParaRPr lang="en-US" sz="1130" dirty="0"/>
          </a:p>
        </p:txBody>
      </p:sp>
      <p:sp>
        <p:nvSpPr>
          <p:cNvPr id="16" name="Shape 10"/>
          <p:cNvSpPr/>
          <p:nvPr/>
        </p:nvSpPr>
        <p:spPr>
          <a:xfrm>
            <a:off x="6583680" y="1280160"/>
            <a:ext cx="4937760" cy="2852928"/>
          </a:xfrm>
          <a:prstGeom prst="roundRect">
            <a:avLst>
              <a:gd name="adj" fmla="val 2540"/>
            </a:avLst>
          </a:prstGeom>
          <a:solidFill>
            <a:srgbClr val="13273F"/>
          </a:solidFill>
          <a:ln w="12700">
            <a:solidFill>
              <a:srgbClr val="2440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2"/>
          <p:cNvSpPr/>
          <p:nvPr/>
        </p:nvSpPr>
        <p:spPr>
          <a:xfrm>
            <a:off x="640080" y="4297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 ·  FEUILLE DE ROUTE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40080" y="4572000"/>
            <a:ext cx="3505200" cy="960120"/>
          </a:xfrm>
          <a:prstGeom prst="roundRect">
            <a:avLst>
              <a:gd name="adj" fmla="val 6667"/>
            </a:avLst>
          </a:prstGeom>
          <a:solidFill>
            <a:srgbClr val="13273F"/>
          </a:solidFill>
          <a:ln w="12700">
            <a:solidFill>
              <a:srgbClr val="2440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/>
          <p:cNvSpPr/>
          <p:nvPr/>
        </p:nvSpPr>
        <p:spPr>
          <a:xfrm>
            <a:off x="768096" y="4681728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268" y="4773900"/>
            <a:ext cx="199705" cy="19970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43584" y="4645152"/>
            <a:ext cx="281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 </a:t>
            </a:r>
            <a:r>
              <a:rPr lang="en-US" sz="95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 mois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768096" y="5093395"/>
            <a:ext cx="3249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R-D1, R-I1, R-I5 ; lancer le pilote R-F1 dans les 10 communes P1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4145280" y="457200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18"/>
          <p:cNvSpPr/>
          <p:nvPr/>
        </p:nvSpPr>
        <p:spPr>
          <a:xfrm>
            <a:off x="4328160" y="4572000"/>
            <a:ext cx="3505200" cy="960120"/>
          </a:xfrm>
          <a:prstGeom prst="roundRect">
            <a:avLst>
              <a:gd name="adj" fmla="val 6667"/>
            </a:avLst>
          </a:prstGeom>
          <a:solidFill>
            <a:srgbClr val="13273F"/>
          </a:solidFill>
          <a:ln w="12700">
            <a:solidFill>
              <a:srgbClr val="2440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4456176" y="4681728"/>
            <a:ext cx="384048" cy="384048"/>
          </a:xfrm>
          <a:prstGeom prst="ellipse">
            <a:avLst/>
          </a:prstGeom>
          <a:solidFill>
            <a:srgbClr val="C9A20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348" y="4773900"/>
            <a:ext cx="199705" cy="19970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31664" y="4645152"/>
            <a:ext cx="281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  </a:t>
            </a:r>
            <a:r>
              <a:rPr lang="en-US" sz="95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ans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4456176" y="5084065"/>
            <a:ext cx="3249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R-F1, R-F3, R-F4, R-F6 ; décider R-F2 après étude ; actions Internet sur les 19 communes P2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7833360" y="457200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23"/>
          <p:cNvSpPr/>
          <p:nvPr/>
        </p:nvSpPr>
        <p:spPr>
          <a:xfrm>
            <a:off x="8016240" y="4572000"/>
            <a:ext cx="3505200" cy="960120"/>
          </a:xfrm>
          <a:prstGeom prst="roundRect">
            <a:avLst>
              <a:gd name="adj" fmla="val 6667"/>
            </a:avLst>
          </a:prstGeom>
          <a:solidFill>
            <a:srgbClr val="13273F"/>
          </a:solidFill>
          <a:ln w="12700">
            <a:solidFill>
              <a:srgbClr val="2440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24"/>
          <p:cNvSpPr/>
          <p:nvPr/>
        </p:nvSpPr>
        <p:spPr>
          <a:xfrm>
            <a:off x="8144256" y="468172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428" y="4773900"/>
            <a:ext cx="199705" cy="19970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619744" y="4645152"/>
            <a:ext cx="281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annuel  </a:t>
            </a:r>
            <a:r>
              <a:rPr lang="en-US" sz="95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8125967" y="5084065"/>
            <a:ext cx="3249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catalogue de KPI et la matrice de priorisation (116 communes)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640080" y="654710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8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TOGO AI LAB  ·  Data Challenge Économie Numérique — Défi 2</a:t>
            </a:r>
            <a:endParaRPr lang="en-US" sz="900" dirty="0"/>
          </a:p>
        </p:txBody>
      </p:sp>
      <p:sp>
        <p:nvSpPr>
          <p:cNvPr id="40" name="Rounded Rectangle 39"/>
          <p:cNvSpPr/>
          <p:nvPr/>
        </p:nvSpPr>
        <p:spPr>
          <a:xfrm>
            <a:off x="640080" y="5586985"/>
            <a:ext cx="10881360" cy="960119"/>
          </a:xfrm>
          <a:prstGeom prst="roundRect">
            <a:avLst>
              <a:gd name="adj" fmla="val 8000"/>
            </a:avLst>
          </a:prstGeom>
          <a:solidFill>
            <a:srgbClr val="006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/>
            <a:r>
              <a:rPr lang="fr-FR" sz="2000" b="1" dirty="0"/>
              <a:t>Le Mobile Money a déjà posé au Togo l'infrastructure de proximité que le réseau formel n'a pas encore : il reste à s'appuyer sur elle pour faire venir les services financiers formels dans les 29 communes où le besoin est le plus pressant</a:t>
            </a:r>
            <a:endParaRPr sz="2000" b="1" i="1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84848" y="1426464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FFCE00"/>
                </a:solidFill>
                <a:latin typeface="Calibri"/>
              </a:rPr>
              <a:t>OUVERTURE</a:t>
            </a:r>
          </a:p>
        </p:txBody>
      </p:sp>
      <p:sp>
        <p:nvSpPr>
          <p:cNvPr id="42" name="Oval 41"/>
          <p:cNvSpPr/>
          <p:nvPr/>
        </p:nvSpPr>
        <p:spPr>
          <a:xfrm>
            <a:off x="6784848" y="1883664"/>
            <a:ext cx="384048" cy="384048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1775" y="181051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Du Mobile Money vers le formel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CBD5E1"/>
                </a:solidFill>
                <a:latin typeface="Calibri"/>
              </a:rPr>
              <a:t>Faire du Mobile Money une passerelle vers l'épargne, le crédit et l'assurance formels.</a:t>
            </a:r>
          </a:p>
        </p:txBody>
      </p:sp>
      <p:sp>
        <p:nvSpPr>
          <p:cNvPr id="44" name="Oval 43"/>
          <p:cNvSpPr/>
          <p:nvPr/>
        </p:nvSpPr>
        <p:spPr>
          <a:xfrm>
            <a:off x="6784848" y="2633472"/>
            <a:ext cx="384048" cy="384048"/>
          </a:xfrm>
          <a:prstGeom prst="ellipse">
            <a:avLst/>
          </a:prstGeom>
          <a:solidFill>
            <a:srgbClr val="C9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1775" y="256032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Affiner l'analyse à l'échelle des cantons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CBD5E1"/>
                </a:solidFill>
                <a:latin typeface="Calibri"/>
              </a:rPr>
              <a:t>244 des 373 cantons n'ont aucun établissement formel recensé : un niveau de lecture plus fin pour cibler.</a:t>
            </a:r>
          </a:p>
        </p:txBody>
      </p:sp>
      <p:sp>
        <p:nvSpPr>
          <p:cNvPr id="46" name="Oval 45"/>
          <p:cNvSpPr/>
          <p:nvPr/>
        </p:nvSpPr>
        <p:spPr>
          <a:xfrm>
            <a:off x="6784848" y="3383280"/>
            <a:ext cx="384048" cy="38404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5" y="331012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Mesurer l'usage d'Internet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CBD5E1"/>
                </a:solidFill>
                <a:latin typeface="Calibri"/>
              </a:rPr>
              <a:t>L'enquête ménages TIC permettra de ventiler l'usage, en coordination avec le Togo Digital Acceleration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2626</Words>
  <Application>Microsoft Office PowerPoint</Application>
  <PresentationFormat>Grand écran</PresentationFormat>
  <Paragraphs>276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Money et inclusion financière au Togo — Data Challenge Économie Numérique, Défi 2</dc:title>
  <dc:subject>PptxGenJS Presentation</dc:subject>
  <dc:creator>DAYO Kokou Cyrille</dc:creator>
  <cp:lastModifiedBy>Kokou Cyrille DAYO</cp:lastModifiedBy>
  <cp:revision>2</cp:revision>
  <dcterms:created xsi:type="dcterms:W3CDTF">2026-09-28T07:49:53Z</dcterms:created>
  <dcterms:modified xsi:type="dcterms:W3CDTF">2026-09-28T10:25:28Z</dcterms:modified>
</cp:coreProperties>
</file>